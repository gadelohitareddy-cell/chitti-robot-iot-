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DD6ABD-AD2C-4F6F-B596-BE356458AEA7}" v="17" dt="2026-03-26T16:12:45.9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 snapToGrid="0">
      <p:cViewPr varScale="1">
        <p:scale>
          <a:sx n="90" d="100"/>
          <a:sy n="90" d="100"/>
        </p:scale>
        <p:origin x="37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0" y="0"/>
      </p:cViewPr>
      <p:guideLst/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delohitareddy@gmail.com" userId="1978b8a774aa0d72" providerId="LiveId" clId="{11F2FB7F-16C9-4A4D-9DAE-7095730F3742}"/>
    <pc:docChg chg="modSld">
      <pc:chgData name="gadelohitareddy@gmail.com" userId="1978b8a774aa0d72" providerId="LiveId" clId="{11F2FB7F-16C9-4A4D-9DAE-7095730F3742}" dt="2026-03-26T16:14:40.027" v="300" actId="122"/>
      <pc:docMkLst>
        <pc:docMk/>
      </pc:docMkLst>
      <pc:sldChg chg="modSp mod">
        <pc:chgData name="gadelohitareddy@gmail.com" userId="1978b8a774aa0d72" providerId="LiveId" clId="{11F2FB7F-16C9-4A4D-9DAE-7095730F3742}" dt="2026-03-26T16:14:40.027" v="300" actId="122"/>
        <pc:sldMkLst>
          <pc:docMk/>
          <pc:sldMk cId="1953749973" sldId="256"/>
        </pc:sldMkLst>
        <pc:spChg chg="mod">
          <ac:chgData name="gadelohitareddy@gmail.com" userId="1978b8a774aa0d72" providerId="LiveId" clId="{11F2FB7F-16C9-4A4D-9DAE-7095730F3742}" dt="2026-03-26T16:14:40.027" v="300" actId="122"/>
          <ac:spMkLst>
            <pc:docMk/>
            <pc:sldMk cId="1953749973" sldId="256"/>
            <ac:spMk id="14" creationId="{00000000-0000-0000-0000-000000000000}"/>
          </ac:spMkLst>
        </pc:spChg>
      </pc:sldChg>
      <pc:sldChg chg="addSp modSp mod">
        <pc:chgData name="gadelohitareddy@gmail.com" userId="1978b8a774aa0d72" providerId="LiveId" clId="{11F2FB7F-16C9-4A4D-9DAE-7095730F3742}" dt="2026-03-26T16:09:38.545" v="282" actId="20577"/>
        <pc:sldMkLst>
          <pc:docMk/>
          <pc:sldMk cId="2073946555" sldId="258"/>
        </pc:sldMkLst>
        <pc:spChg chg="add">
          <ac:chgData name="gadelohitareddy@gmail.com" userId="1978b8a774aa0d72" providerId="LiveId" clId="{11F2FB7F-16C9-4A4D-9DAE-7095730F3742}" dt="2026-03-26T16:08:51.329" v="273"/>
          <ac:spMkLst>
            <pc:docMk/>
            <pc:sldMk cId="2073946555" sldId="258"/>
            <ac:spMk id="2" creationId="{5D957F96-89F8-6942-99A8-82D1AC226502}"/>
          </ac:spMkLst>
        </pc:spChg>
        <pc:spChg chg="mod">
          <ac:chgData name="gadelohitareddy@gmail.com" userId="1978b8a774aa0d72" providerId="LiveId" clId="{11F2FB7F-16C9-4A4D-9DAE-7095730F3742}" dt="2026-03-26T16:09:38.545" v="282" actId="20577"/>
          <ac:spMkLst>
            <pc:docMk/>
            <pc:sldMk cId="2073946555" sldId="258"/>
            <ac:spMk id="23" creationId="{00000000-0000-0000-0000-000000000000}"/>
          </ac:spMkLst>
        </pc:spChg>
      </pc:sldChg>
      <pc:sldChg chg="modSp mod">
        <pc:chgData name="gadelohitareddy@gmail.com" userId="1978b8a774aa0d72" providerId="LiveId" clId="{11F2FB7F-16C9-4A4D-9DAE-7095730F3742}" dt="2026-03-26T16:12:05.834" v="290" actId="12"/>
        <pc:sldMkLst>
          <pc:docMk/>
          <pc:sldMk cId="203228905" sldId="259"/>
        </pc:sldMkLst>
        <pc:spChg chg="mod">
          <ac:chgData name="gadelohitareddy@gmail.com" userId="1978b8a774aa0d72" providerId="LiveId" clId="{11F2FB7F-16C9-4A4D-9DAE-7095730F3742}" dt="2026-03-26T16:12:05.834" v="290" actId="12"/>
          <ac:spMkLst>
            <pc:docMk/>
            <pc:sldMk cId="203228905" sldId="259"/>
            <ac:spMk id="28" creationId="{00000000-0000-0000-0000-000000000000}"/>
          </ac:spMkLst>
        </pc:spChg>
      </pc:sldChg>
      <pc:sldChg chg="modSp mod">
        <pc:chgData name="gadelohitareddy@gmail.com" userId="1978b8a774aa0d72" providerId="LiveId" clId="{11F2FB7F-16C9-4A4D-9DAE-7095730F3742}" dt="2026-03-26T16:13:52.044" v="299" actId="12"/>
        <pc:sldMkLst>
          <pc:docMk/>
          <pc:sldMk cId="2090989788" sldId="260"/>
        </pc:sldMkLst>
        <pc:spChg chg="mod">
          <ac:chgData name="gadelohitareddy@gmail.com" userId="1978b8a774aa0d72" providerId="LiveId" clId="{11F2FB7F-16C9-4A4D-9DAE-7095730F3742}" dt="2026-03-26T16:13:52.044" v="299" actId="12"/>
          <ac:spMkLst>
            <pc:docMk/>
            <pc:sldMk cId="2090989788" sldId="260"/>
            <ac:spMk id="32" creationId="{00000000-0000-0000-0000-000000000000}"/>
          </ac:spMkLst>
        </pc:spChg>
        <pc:spChg chg="mod">
          <ac:chgData name="gadelohitareddy@gmail.com" userId="1978b8a774aa0d72" providerId="LiveId" clId="{11F2FB7F-16C9-4A4D-9DAE-7095730F3742}" dt="2026-03-26T16:13:16.993" v="294" actId="1076"/>
          <ac:spMkLst>
            <pc:docMk/>
            <pc:sldMk cId="2090989788" sldId="260"/>
            <ac:spMk id="33" creationId="{00000000-0000-0000-0000-000000000000}"/>
          </ac:spMkLst>
        </pc:spChg>
      </pc:sldChg>
      <pc:sldChg chg="modSp mod">
        <pc:chgData name="gadelohitareddy@gmail.com" userId="1978b8a774aa0d72" providerId="LiveId" clId="{11F2FB7F-16C9-4A4D-9DAE-7095730F3742}" dt="2026-03-26T16:04:30.380" v="257" actId="20577"/>
        <pc:sldMkLst>
          <pc:docMk/>
          <pc:sldMk cId="778272221" sldId="261"/>
        </pc:sldMkLst>
        <pc:spChg chg="mod">
          <ac:chgData name="gadelohitareddy@gmail.com" userId="1978b8a774aa0d72" providerId="LiveId" clId="{11F2FB7F-16C9-4A4D-9DAE-7095730F3742}" dt="2026-03-26T16:04:30.380" v="257" actId="20577"/>
          <ac:spMkLst>
            <pc:docMk/>
            <pc:sldMk cId="778272221" sldId="261"/>
            <ac:spMk id="37" creationId="{00000000-0000-0000-0000-000000000000}"/>
          </ac:spMkLst>
        </pc:spChg>
      </pc:sldChg>
      <pc:sldChg chg="modSp mod">
        <pc:chgData name="gadelohitareddy@gmail.com" userId="1978b8a774aa0d72" providerId="LiveId" clId="{11F2FB7F-16C9-4A4D-9DAE-7095730F3742}" dt="2026-03-26T16:00:35.539" v="236" actId="5793"/>
        <pc:sldMkLst>
          <pc:docMk/>
          <pc:sldMk cId="122490305" sldId="262"/>
        </pc:sldMkLst>
        <pc:spChg chg="mod">
          <ac:chgData name="gadelohitareddy@gmail.com" userId="1978b8a774aa0d72" providerId="LiveId" clId="{11F2FB7F-16C9-4A4D-9DAE-7095730F3742}" dt="2026-03-26T16:00:35.539" v="236" actId="5793"/>
          <ac:spMkLst>
            <pc:docMk/>
            <pc:sldMk cId="122490305" sldId="262"/>
            <ac:spMk id="41" creationId="{00000000-0000-0000-0000-000000000000}"/>
          </ac:spMkLst>
        </pc:spChg>
      </pc:sldChg>
      <pc:sldChg chg="modSp mod">
        <pc:chgData name="gadelohitareddy@gmail.com" userId="1978b8a774aa0d72" providerId="LiveId" clId="{11F2FB7F-16C9-4A4D-9DAE-7095730F3742}" dt="2026-03-26T15:58:20.252" v="225" actId="20577"/>
        <pc:sldMkLst>
          <pc:docMk/>
          <pc:sldMk cId="1625636902" sldId="263"/>
        </pc:sldMkLst>
        <pc:spChg chg="mod">
          <ac:chgData name="gadelohitareddy@gmail.com" userId="1978b8a774aa0d72" providerId="LiveId" clId="{11F2FB7F-16C9-4A4D-9DAE-7095730F3742}" dt="2026-03-26T15:58:20.252" v="225" actId="20577"/>
          <ac:spMkLst>
            <pc:docMk/>
            <pc:sldMk cId="1625636902" sldId="263"/>
            <ac:spMk id="45" creationId="{00000000-0000-0000-0000-000000000000}"/>
          </ac:spMkLst>
        </pc:spChg>
      </pc:sldChg>
      <pc:sldChg chg="modSp mod">
        <pc:chgData name="gadelohitareddy@gmail.com" userId="1978b8a774aa0d72" providerId="LiveId" clId="{11F2FB7F-16C9-4A4D-9DAE-7095730F3742}" dt="2026-03-26T15:37:42.070" v="111" actId="12"/>
        <pc:sldMkLst>
          <pc:docMk/>
          <pc:sldMk cId="110014118" sldId="264"/>
        </pc:sldMkLst>
        <pc:spChg chg="mod">
          <ac:chgData name="gadelohitareddy@gmail.com" userId="1978b8a774aa0d72" providerId="LiveId" clId="{11F2FB7F-16C9-4A4D-9DAE-7095730F3742}" dt="2026-03-26T15:35:12.269" v="62" actId="12"/>
          <ac:spMkLst>
            <pc:docMk/>
            <pc:sldMk cId="110014118" sldId="264"/>
            <ac:spMk id="49" creationId="{00000000-0000-0000-0000-000000000000}"/>
          </ac:spMkLst>
        </pc:spChg>
        <pc:spChg chg="mod">
          <ac:chgData name="gadelohitareddy@gmail.com" userId="1978b8a774aa0d72" providerId="LiveId" clId="{11F2FB7F-16C9-4A4D-9DAE-7095730F3742}" dt="2026-03-26T15:37:42.070" v="111" actId="12"/>
          <ac:spMkLst>
            <pc:docMk/>
            <pc:sldMk cId="110014118" sldId="264"/>
            <ac:spMk id="50" creationId="{00000000-0000-0000-0000-000000000000}"/>
          </ac:spMkLst>
        </pc:spChg>
      </pc:sldChg>
      <pc:sldChg chg="modSp mod">
        <pc:chgData name="gadelohitareddy@gmail.com" userId="1978b8a774aa0d72" providerId="LiveId" clId="{11F2FB7F-16C9-4A4D-9DAE-7095730F3742}" dt="2026-03-26T15:55:45.905" v="210" actId="14100"/>
        <pc:sldMkLst>
          <pc:docMk/>
          <pc:sldMk cId="1564434557" sldId="265"/>
        </pc:sldMkLst>
        <pc:spChg chg="mod">
          <ac:chgData name="gadelohitareddy@gmail.com" userId="1978b8a774aa0d72" providerId="LiveId" clId="{11F2FB7F-16C9-4A4D-9DAE-7095730F3742}" dt="2026-03-26T15:55:45.905" v="210" actId="14100"/>
          <ac:spMkLst>
            <pc:docMk/>
            <pc:sldMk cId="1564434557" sldId="265"/>
            <ac:spMk id="54" creationId="{00000000-0000-0000-0000-000000000000}"/>
          </ac:spMkLst>
        </pc:spChg>
      </pc:sldChg>
      <pc:sldChg chg="addSp modSp mod">
        <pc:chgData name="gadelohitareddy@gmail.com" userId="1978b8a774aa0d72" providerId="LiveId" clId="{11F2FB7F-16C9-4A4D-9DAE-7095730F3742}" dt="2026-03-26T15:49:15.128" v="131" actId="14100"/>
        <pc:sldMkLst>
          <pc:docMk/>
          <pc:sldMk cId="737045431" sldId="266"/>
        </pc:sldMkLst>
        <pc:spChg chg="mod">
          <ac:chgData name="gadelohitareddy@gmail.com" userId="1978b8a774aa0d72" providerId="LiveId" clId="{11F2FB7F-16C9-4A4D-9DAE-7095730F3742}" dt="2026-03-26T15:49:15.128" v="131" actId="14100"/>
          <ac:spMkLst>
            <pc:docMk/>
            <pc:sldMk cId="737045431" sldId="266"/>
            <ac:spMk id="58" creationId="{00000000-0000-0000-0000-000000000000}"/>
          </ac:spMkLst>
        </pc:spChg>
        <pc:picChg chg="add mod">
          <ac:chgData name="gadelohitareddy@gmail.com" userId="1978b8a774aa0d72" providerId="LiveId" clId="{11F2FB7F-16C9-4A4D-9DAE-7095730F3742}" dt="2026-03-26T15:41:42.207" v="123" actId="1076"/>
          <ac:picMkLst>
            <pc:docMk/>
            <pc:sldMk cId="737045431" sldId="266"/>
            <ac:picMk id="3" creationId="{528A5293-B2F0-76D4-B1AD-FD170446A26A}"/>
          </ac:picMkLst>
        </pc:picChg>
        <pc:picChg chg="add mod">
          <ac:chgData name="gadelohitareddy@gmail.com" userId="1978b8a774aa0d72" providerId="LiveId" clId="{11F2FB7F-16C9-4A4D-9DAE-7095730F3742}" dt="2026-03-26T15:48:52.330" v="129" actId="1076"/>
          <ac:picMkLst>
            <pc:docMk/>
            <pc:sldMk cId="737045431" sldId="266"/>
            <ac:picMk id="5" creationId="{E6D0B555-6E04-78A7-B8D1-901C5FFDD71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828800" y="3886199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5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33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973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783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306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6137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713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815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7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7668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64794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solidFill>
                <a:srgbClr val="767676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8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endParaRPr lang="zh-CN" altLang="en-US" sz="1200">
              <a:solidFill>
                <a:srgbClr val="767676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9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767676"/>
                </a:solidFill>
                <a:latin typeface="Aptos" charset="0"/>
                <a:ea typeface="等线" charset="0"/>
                <a:cs typeface="Aptos" charset="0"/>
              </a:rPr>
              <a:t>‹#›</a:t>
            </a:fld>
            <a:endParaRPr lang="zh-CN" altLang="en-US" sz="1200">
              <a:solidFill>
                <a:srgbClr val="767676"/>
              </a:solidFill>
              <a:latin typeface="Aptos" charset="0"/>
              <a:ea typeface="等线" charset="0"/>
              <a:cs typeface="Apto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094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fld id="{CAD2D6BD-DE1B-4B5F-8B41-2702339687B9}" type="datetime1">
              <a:rPr lang="en-US" altLang="zh-CN" sz="1200">
                <a:solidFill>
                  <a:srgbClr val="767676"/>
                </a:solidFill>
                <a:latin typeface="Aptos" charset="0"/>
                <a:ea typeface="等线" charset="0"/>
                <a:cs typeface="Aptos" charset="0"/>
              </a:rPr>
              <a:t>3/26/2026</a:t>
            </a:fld>
            <a:endParaRPr lang="zh-CN" altLang="en-US" sz="1200">
              <a:solidFill>
                <a:srgbClr val="767676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3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endParaRPr lang="zh-CN" altLang="en-US" sz="1200">
              <a:solidFill>
                <a:srgbClr val="767676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idx="4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767676"/>
                </a:solidFill>
                <a:latin typeface="Aptos" charset="0"/>
                <a:ea typeface="等线" charset="0"/>
                <a:cs typeface="Aptos" charset="0"/>
              </a:rPr>
              <a:t>‹#›</a:t>
            </a:fld>
            <a:endParaRPr lang="zh-CN" altLang="en-US" sz="1200">
              <a:solidFill>
                <a:srgbClr val="767676"/>
              </a:solidFill>
              <a:latin typeface="Aptos" charset="0"/>
              <a:ea typeface="等线" charset="0"/>
              <a:cs typeface="Apto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872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l" defTabSz="914400" eaLnBrk="1" fontAlgn="auto" latinLnBrk="0" hangingPunct="1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Aptos Display" charset="0"/>
          <a:ea typeface="等线 Light" charset="0"/>
          <a:cs typeface="Aptos Display" charset="0"/>
        </a:defRPr>
      </a:lvl1pPr>
    </p:titleStyle>
    <p:bodyStyle>
      <a:lvl1pPr marL="228600" indent="-228600" algn="l" defTabSz="914400" eaLnBrk="1" fontAlgn="auto" latinLnBrk="0" hangingPunct="1">
        <a:lnSpc>
          <a:spcPct val="90000"/>
        </a:lnSpc>
        <a:spcBef>
          <a:spcPts val="1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Aptos" charset="0"/>
          <a:ea typeface="等线" charset="0"/>
          <a:cs typeface="Aptos" charset="0"/>
        </a:defRPr>
      </a:lvl1pPr>
      <a:lvl2pPr marL="6858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ptos" charset="0"/>
          <a:ea typeface="等线" charset="0"/>
          <a:cs typeface="Aptos" charset="0"/>
        </a:defRPr>
      </a:lvl2pPr>
      <a:lvl3pPr marL="1143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ptos" charset="0"/>
          <a:ea typeface="等线" charset="0"/>
          <a:cs typeface="Aptos" charset="0"/>
        </a:defRPr>
      </a:lvl3pPr>
      <a:lvl4pPr marL="16002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Aptos" charset="0"/>
          <a:ea typeface="等线" charset="0"/>
          <a:cs typeface="Aptos" charset="0"/>
        </a:defRPr>
      </a:lvl4pPr>
      <a:lvl5pPr marL="20574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Aptos" charset="0"/>
          <a:ea typeface="等线" charset="0"/>
          <a:cs typeface="Aptos" charset="0"/>
        </a:defRPr>
      </a:lvl5pPr>
      <a:lvl6pPr marL="25146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Aptos" charset="0"/>
          <a:ea typeface="等线" charset="0"/>
          <a:cs typeface="Aptos" charset="0"/>
        </a:defRPr>
      </a:lvl6pPr>
      <a:lvl7pPr marL="29718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Aptos" charset="0"/>
          <a:ea typeface="等线" charset="0"/>
          <a:cs typeface="Aptos" charset="0"/>
        </a:defRPr>
      </a:lvl7pPr>
      <a:lvl8pPr marL="3429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Aptos" charset="0"/>
          <a:ea typeface="等线" charset="0"/>
          <a:cs typeface="Aptos" charset="0"/>
        </a:defRPr>
      </a:lvl8pPr>
      <a:lvl9pPr marL="3429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Aptos" charset="0"/>
          <a:ea typeface="等线" charset="0"/>
          <a:cs typeface="Apto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"/>
          <p:cNvSpPr>
            <a:spLocks/>
          </p:cNvSpPr>
          <p:nvPr/>
        </p:nvSpPr>
        <p:spPr>
          <a:xfrm>
            <a:off x="304799" y="6041570"/>
            <a:ext cx="11636830" cy="707886"/>
          </a:xfrm>
          <a:prstGeom prst="roundRect">
            <a:avLst>
              <a:gd name="adj" fmla="val 16666"/>
            </a:avLst>
          </a:prstGeom>
          <a:solidFill>
            <a:srgbClr val="95DBF7">
              <a:alpha val="88000"/>
            </a:srgbClr>
          </a:solidFill>
          <a:ln w="19050" cap="flat" cmpd="sng">
            <a:solidFill>
              <a:srgbClr val="000000"/>
            </a:solidFill>
            <a:prstDash val="solid"/>
            <a:round/>
          </a:ln>
        </p:spPr>
      </p:sp>
      <p:pic>
        <p:nvPicPr>
          <p:cNvPr id="11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435"/>
            <a:ext cx="12192000" cy="95410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2" name="矩形"/>
          <p:cNvSpPr>
            <a:spLocks/>
          </p:cNvSpPr>
          <p:nvPr/>
        </p:nvSpPr>
        <p:spPr>
          <a:xfrm>
            <a:off x="304799" y="1110244"/>
            <a:ext cx="11756570" cy="9486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Presentation on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Merriweather" pitchFamily="18" charset="0"/>
                <a:ea typeface="等线 Light" charset="0"/>
                <a:cs typeface="Aptos Display" charset="0"/>
              </a:rPr>
              <a:t>CHITTI ROBOT</a:t>
            </a:r>
            <a:r>
              <a:rPr lang="en-US" altLang="zh-CN" sz="2800" b="1" i="0" u="none" strike="noStrike" kern="1200" cap="none" spc="0" baseline="0" dirty="0">
                <a:solidFill>
                  <a:srgbClr val="0000FF"/>
                </a:solidFill>
                <a:latin typeface="Merriweather" pitchFamily="18" charset="0"/>
                <a:ea typeface="等线 Light" charset="0"/>
                <a:cs typeface="Aptos Display" charset="0"/>
              </a:rPr>
              <a:t> </a:t>
            </a:r>
            <a:r>
              <a:rPr lang="en-US" altLang="zh-CN" sz="2800" b="1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  </a:t>
            </a:r>
            <a:endParaRPr lang="zh-CN" altLang="en-US" sz="2800" b="1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</p:txBody>
      </p:sp>
      <p:sp>
        <p:nvSpPr>
          <p:cNvPr id="13" name="矩形"/>
          <p:cNvSpPr>
            <a:spLocks/>
          </p:cNvSpPr>
          <p:nvPr/>
        </p:nvSpPr>
        <p:spPr>
          <a:xfrm>
            <a:off x="3942079" y="2307772"/>
            <a:ext cx="4843737" cy="193899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Presented By :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1.  </a:t>
            </a:r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G.LOHITHA</a:t>
            </a:r>
            <a:endParaRPr lang="en-US" altLang="zh-CN" sz="2000" b="1" i="0" u="none" strike="noStrike" kern="1200" cap="none" spc="0" baseline="0" dirty="0">
              <a:solidFill>
                <a:srgbClr val="3333FF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2.  </a:t>
            </a:r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B.SAHAJA</a:t>
            </a:r>
            <a:endParaRPr lang="en-US" altLang="zh-CN" sz="2000" b="1" i="0" u="none" strike="noStrike" kern="1200" cap="none" spc="0" baseline="0" dirty="0">
              <a:solidFill>
                <a:srgbClr val="3333FF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3.  </a:t>
            </a:r>
            <a:r>
              <a:rPr lang="en-US" altLang="zh-CN" sz="2000" b="1" dirty="0">
                <a:solidFill>
                  <a:srgbClr val="3366FF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M.LAMI PRASANNA</a:t>
            </a:r>
            <a:endParaRPr lang="en-US" altLang="zh-CN" sz="2000" b="1" i="0" u="none" strike="noStrike" kern="1200" cap="none" spc="0" baseline="0" dirty="0">
              <a:solidFill>
                <a:srgbClr val="3366FF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Times New Roman" pitchFamily="18" charset="0"/>
                <a:ea typeface="等线" charset="0"/>
                <a:cs typeface="Times New Roman" pitchFamily="18" charset="0"/>
              </a:rPr>
              <a:t>4.  </a:t>
            </a:r>
            <a:r>
              <a:rPr lang="en-US" altLang="zh-CN" sz="2000" b="1" dirty="0">
                <a:solidFill>
                  <a:srgbClr val="3366FF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N.DHARANI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Times New Roman" pitchFamily="18" charset="0"/>
                <a:ea typeface="等线" charset="0"/>
                <a:cs typeface="Times New Roman" pitchFamily="18" charset="0"/>
              </a:rPr>
              <a:t>5.  </a:t>
            </a:r>
            <a:r>
              <a:rPr lang="en-US" altLang="zh-CN" sz="2000" b="1" i="0" u="none" strike="noStrike" kern="1200" cap="none" spc="0" baseline="0" dirty="0">
                <a:solidFill>
                  <a:srgbClr val="3366FF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A.YAMINI</a:t>
            </a:r>
            <a:endParaRPr lang="zh-CN" altLang="en-US" sz="2000" b="1" i="0" u="none" strike="noStrike" kern="1200" cap="none" spc="0" baseline="0" dirty="0">
              <a:solidFill>
                <a:srgbClr val="3366FF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</p:txBody>
      </p:sp>
      <p:sp>
        <p:nvSpPr>
          <p:cNvPr id="14" name="矩形"/>
          <p:cNvSpPr>
            <a:spLocks/>
          </p:cNvSpPr>
          <p:nvPr/>
        </p:nvSpPr>
        <p:spPr>
          <a:xfrm>
            <a:off x="3063239" y="4182409"/>
            <a:ext cx="6411687" cy="70788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Guided By :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     Mr. V.AKSHITH NAG</a:t>
            </a:r>
            <a:endParaRPr lang="zh-CN" altLang="en-US" sz="2000" b="1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</p:txBody>
      </p:sp>
      <p:sp>
        <p:nvSpPr>
          <p:cNvPr id="15" name="矩形"/>
          <p:cNvSpPr>
            <a:spLocks/>
          </p:cNvSpPr>
          <p:nvPr/>
        </p:nvSpPr>
        <p:spPr>
          <a:xfrm>
            <a:off x="960120" y="5039870"/>
            <a:ext cx="9565640" cy="70788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1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Batch No :  05                                          </a:t>
            </a: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Date: 28-03-2026</a:t>
            </a:r>
            <a:endParaRPr lang="zh-CN" altLang="en-US" sz="2000" b="1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</p:txBody>
      </p:sp>
      <p:sp>
        <p:nvSpPr>
          <p:cNvPr id="16" name="矩形"/>
          <p:cNvSpPr>
            <a:spLocks/>
          </p:cNvSpPr>
          <p:nvPr/>
        </p:nvSpPr>
        <p:spPr>
          <a:xfrm>
            <a:off x="2059806" y="6041570"/>
            <a:ext cx="8864868" cy="52451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 eaLnBrk="1" latinLnBrk="0" hangingPunct="1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300" b="0" i="0" u="none" strike="noStrike" kern="1200" cap="none" spc="0" baseline="0">
                <a:solidFill>
                  <a:srgbClr val="0000FF"/>
                </a:solidFill>
                <a:latin typeface="Berlin Sans FB" pitchFamily="34" charset="0"/>
                <a:ea typeface="等线 Light" charset="0"/>
                <a:cs typeface="Aptos Display" charset="0"/>
              </a:rPr>
              <a:t> </a:t>
            </a:r>
            <a:r>
              <a:rPr lang="en-US" altLang="zh-CN" sz="2600" b="1" i="0" u="none" strike="noStrike" kern="1200" cap="none" spc="0" baseline="0">
                <a:solidFill>
                  <a:srgbClr val="FF0000"/>
                </a:solidFill>
                <a:latin typeface="Times New Roman" pitchFamily="18" charset="0"/>
                <a:ea typeface="等线 Light" charset="0"/>
                <a:cs typeface="Aptos Display" charset="0"/>
              </a:rPr>
              <a:t>Dept. of Computer Science &amp; Engineering</a:t>
            </a:r>
            <a:endParaRPr lang="zh-CN" altLang="en-US" sz="2600" b="1" i="0" u="none" strike="noStrike" kern="1200" cap="none" spc="0" baseline="0">
              <a:solidFill>
                <a:srgbClr val="FF0000"/>
              </a:solidFill>
              <a:latin typeface="Times New Roman" pitchFamily="18" charset="0"/>
              <a:ea typeface="等线 Light" charset="0"/>
              <a:cs typeface="Aptos Displa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749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"/>
          <p:cNvSpPr>
            <a:spLocks/>
          </p:cNvSpPr>
          <p:nvPr/>
        </p:nvSpPr>
        <p:spPr>
          <a:xfrm>
            <a:off x="304799" y="6041570"/>
            <a:ext cx="11636830" cy="707886"/>
          </a:xfrm>
          <a:prstGeom prst="roundRect">
            <a:avLst>
              <a:gd name="adj" fmla="val 16666"/>
            </a:avLst>
          </a:prstGeom>
          <a:solidFill>
            <a:srgbClr val="95DBF7">
              <a:alpha val="88000"/>
            </a:srgbClr>
          </a:solidFill>
          <a:ln w="19050" cap="flat" cmpd="sng">
            <a:solidFill>
              <a:srgbClr val="000000"/>
            </a:solidFill>
            <a:prstDash val="solid"/>
            <a:round/>
          </a:ln>
        </p:spPr>
      </p:sp>
      <p:pic>
        <p:nvPicPr>
          <p:cNvPr id="18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435"/>
            <a:ext cx="12192000" cy="95410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9" name="矩形"/>
          <p:cNvSpPr>
            <a:spLocks/>
          </p:cNvSpPr>
          <p:nvPr/>
        </p:nvSpPr>
        <p:spPr>
          <a:xfrm>
            <a:off x="2295929" y="1239520"/>
            <a:ext cx="6263640" cy="426523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73152" tIns="36576" rIns="73152" bIns="36576" anchor="t" anchorCtr="0">
            <a:prstTxWarp prst="textNoShape">
              <a:avLst/>
            </a:prstTxWarp>
          </a:bodyPr>
          <a:lstStyle/>
          <a:p>
            <a:pPr marL="0" indent="0" algn="l" defTabSz="73152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33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Index</a:t>
            </a:r>
          </a:p>
          <a:p>
            <a:pPr marL="0" indent="0" algn="l" defTabSz="73152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None/>
            </a:pPr>
            <a:endParaRPr lang="en-US" altLang="zh-CN" sz="33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  <a:p>
            <a:pPr marL="0" indent="0" algn="l" defTabSz="73152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Blip>
                <a:blip r:embed="rId3"/>
              </a:buBlip>
            </a:pPr>
            <a:r>
              <a:rPr lang="en-US" altLang="zh-CN" sz="19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Aptos" charset="0"/>
              </a:rPr>
              <a:t>Abstract</a:t>
            </a:r>
          </a:p>
          <a:p>
            <a:pPr marL="0" indent="0" algn="l" defTabSz="73152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Blip>
                <a:blip r:embed="rId3"/>
              </a:buBlip>
            </a:pPr>
            <a:r>
              <a:rPr lang="en-US" altLang="zh-CN" sz="19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Aptos" charset="0"/>
              </a:rPr>
              <a:t>Introduction</a:t>
            </a:r>
          </a:p>
          <a:p>
            <a:pPr marL="0" indent="0" algn="l" defTabSz="73152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Blip>
                <a:blip r:embed="rId3"/>
              </a:buBlip>
            </a:pPr>
            <a:r>
              <a:rPr lang="en-US" altLang="zh-CN" sz="19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Aptos" charset="0"/>
              </a:rPr>
              <a:t>Literature Survey</a:t>
            </a:r>
          </a:p>
          <a:p>
            <a:pPr marL="0" indent="0" algn="l" defTabSz="73152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Blip>
                <a:blip r:embed="rId3"/>
              </a:buBlip>
            </a:pPr>
            <a:r>
              <a:rPr lang="en-US" altLang="zh-CN" sz="19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Aptos" charset="0"/>
              </a:rPr>
              <a:t> Problem Definition</a:t>
            </a:r>
          </a:p>
          <a:p>
            <a:pPr marL="0" indent="0" algn="l" defTabSz="73152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Blip>
                <a:blip r:embed="rId3"/>
              </a:buBlip>
            </a:pPr>
            <a:r>
              <a:rPr lang="en-US" altLang="zh-CN" sz="19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Aptos" charset="0"/>
              </a:rPr>
              <a:t> Existing work</a:t>
            </a:r>
          </a:p>
          <a:p>
            <a:pPr marL="0" indent="0" algn="l" defTabSz="73152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Blip>
                <a:blip r:embed="rId3"/>
              </a:buBlip>
            </a:pPr>
            <a:r>
              <a:rPr lang="en-US" altLang="zh-CN" sz="19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Aptos" charset="0"/>
              </a:rPr>
              <a:t>Proposed Work</a:t>
            </a:r>
          </a:p>
          <a:p>
            <a:pPr marL="0" indent="0" algn="l" defTabSz="73152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Blip>
                <a:blip r:embed="rId3"/>
              </a:buBlip>
            </a:pPr>
            <a:r>
              <a:rPr lang="en-US" altLang="zh-CN" sz="1900" b="0" i="0" u="none" strike="noStrike" kern="1200" cap="none" spc="0" baseline="0">
                <a:solidFill>
                  <a:srgbClr val="000000"/>
                </a:solidFill>
                <a:latin typeface="Aptos" charset="0"/>
                <a:ea typeface="等线" charset="0"/>
                <a:cs typeface="Aptos" charset="0"/>
              </a:rPr>
              <a:t>Hardware and Software Specifications</a:t>
            </a:r>
            <a:endParaRPr lang="en-US" altLang="zh-CN" sz="19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  <a:p>
            <a:pPr marL="0" indent="0" algn="l" defTabSz="73152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Blip>
                <a:blip r:embed="rId3"/>
              </a:buBlip>
            </a:pPr>
            <a:r>
              <a:rPr lang="en-US" altLang="zh-CN" sz="19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Aptos" charset="0"/>
              </a:rPr>
              <a:t>Project Description /Modules</a:t>
            </a:r>
          </a:p>
          <a:p>
            <a:pPr marL="0" indent="0" algn="l" defTabSz="73152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Blip>
                <a:blip r:embed="rId3"/>
              </a:buBlip>
            </a:pPr>
            <a:r>
              <a:rPr lang="en-US" altLang="zh-CN" sz="19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Aptos" charset="0"/>
              </a:rPr>
              <a:t>Results and analysis</a:t>
            </a:r>
          </a:p>
          <a:p>
            <a:pPr marL="0" indent="0" algn="l" defTabSz="73152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Blip>
                <a:blip r:embed="rId3"/>
              </a:buBlip>
            </a:pPr>
            <a:r>
              <a:rPr lang="en-US" altLang="zh-CN" sz="19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Aptos" charset="0"/>
              </a:rPr>
              <a:t>References</a:t>
            </a:r>
          </a:p>
          <a:p>
            <a:pPr marL="0" indent="0" algn="l" defTabSz="73152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Blip>
                <a:blip r:embed="rId3"/>
              </a:buBlip>
            </a:pPr>
            <a:r>
              <a:rPr lang="en-US" altLang="zh-CN" sz="19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Aptos" charset="0"/>
              </a:rPr>
              <a:t>Question Answer Session</a:t>
            </a:r>
          </a:p>
          <a:p>
            <a:pPr marL="0" indent="0" algn="ctr" defTabSz="73152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None/>
            </a:pPr>
            <a:endParaRPr lang="zh-CN" altLang="en-US" sz="2400" b="0" i="0" u="none" strike="noStrike" kern="1200" cap="none" spc="0" baseline="0">
              <a:solidFill>
                <a:srgbClr val="898989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20" name="矩形"/>
          <p:cNvSpPr>
            <a:spLocks/>
          </p:cNvSpPr>
          <p:nvPr/>
        </p:nvSpPr>
        <p:spPr>
          <a:xfrm>
            <a:off x="1934676" y="6133259"/>
            <a:ext cx="8864868" cy="52451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 eaLnBrk="1" latinLnBrk="0" hangingPunct="1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300" b="0" i="0" u="none" strike="noStrike" kern="1200" cap="none" spc="0" baseline="0">
                <a:solidFill>
                  <a:srgbClr val="0000FF"/>
                </a:solidFill>
                <a:latin typeface="Berlin Sans FB" pitchFamily="34" charset="0"/>
                <a:ea typeface="等线 Light" charset="0"/>
                <a:cs typeface="Aptos Display" charset="0"/>
              </a:rPr>
              <a:t> </a:t>
            </a:r>
            <a:r>
              <a:rPr lang="en-US" altLang="zh-CN" sz="2600" b="1" i="0" u="none" strike="noStrike" kern="1200" cap="none" spc="0" baseline="0">
                <a:solidFill>
                  <a:srgbClr val="FF0000"/>
                </a:solidFill>
                <a:latin typeface="Times New Roman" pitchFamily="18" charset="0"/>
                <a:ea typeface="等线 Light" charset="0"/>
                <a:cs typeface="Aptos Display" charset="0"/>
              </a:rPr>
              <a:t>Dept. of Computer Science &amp; Engineering</a:t>
            </a:r>
            <a:endParaRPr lang="zh-CN" altLang="en-US" sz="2600" b="1" i="0" u="none" strike="noStrike" kern="1200" cap="none" spc="0" baseline="0">
              <a:solidFill>
                <a:srgbClr val="FF0000"/>
              </a:solidFill>
              <a:latin typeface="Times New Roman" pitchFamily="18" charset="0"/>
              <a:ea typeface="等线 Light" charset="0"/>
              <a:cs typeface="Aptos Displa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507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圆角矩形"/>
          <p:cNvSpPr>
            <a:spLocks/>
          </p:cNvSpPr>
          <p:nvPr/>
        </p:nvSpPr>
        <p:spPr>
          <a:xfrm>
            <a:off x="304799" y="6041570"/>
            <a:ext cx="11636830" cy="707886"/>
          </a:xfrm>
          <a:prstGeom prst="roundRect">
            <a:avLst>
              <a:gd name="adj" fmla="val 16666"/>
            </a:avLst>
          </a:prstGeom>
          <a:solidFill>
            <a:srgbClr val="95DBF7">
              <a:alpha val="88000"/>
            </a:srgbClr>
          </a:solidFill>
          <a:ln w="19050" cap="flat" cmpd="sng">
            <a:solidFill>
              <a:srgbClr val="000000"/>
            </a:solidFill>
            <a:prstDash val="solid"/>
            <a:round/>
          </a:ln>
        </p:spPr>
      </p:sp>
      <p:pic>
        <p:nvPicPr>
          <p:cNvPr id="22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435"/>
            <a:ext cx="12192000" cy="95410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23" name="矩形"/>
          <p:cNvSpPr>
            <a:spLocks/>
          </p:cNvSpPr>
          <p:nvPr/>
        </p:nvSpPr>
        <p:spPr>
          <a:xfrm>
            <a:off x="1442720" y="1391920"/>
            <a:ext cx="8361679" cy="450087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lvl="0"/>
            <a:endParaRPr lang="en-US" altLang="zh-CN" sz="3600" b="0" i="0" u="none" strike="noStrike" kern="1200" cap="none" spc="0" baseline="0" dirty="0">
              <a:solidFill>
                <a:srgbClr val="0000FF"/>
              </a:solidFill>
              <a:latin typeface="Berlin Sans FB" pitchFamily="34" charset="0"/>
              <a:ea typeface="等线 Light" charset="0"/>
              <a:cs typeface="Aptos Display" charset="0"/>
            </a:endParaRPr>
          </a:p>
          <a:p>
            <a:pPr lvl="0"/>
            <a:endParaRPr lang="en-US" altLang="zh-CN" sz="3600" dirty="0">
              <a:solidFill>
                <a:srgbClr val="0000FF"/>
              </a:solidFill>
              <a:latin typeface="Berlin Sans FB" pitchFamily="34" charset="0"/>
              <a:ea typeface="等线 Light" charset="0"/>
              <a:cs typeface="Aptos Display" charset="0"/>
            </a:endParaRPr>
          </a:p>
          <a:p>
            <a:pPr lvl="0"/>
            <a:r>
              <a:rPr lang="en-US" altLang="zh-CN" sz="3600" b="0" i="0" u="none" strike="noStrike" kern="1200" cap="none" spc="0" baseline="0" dirty="0">
                <a:solidFill>
                  <a:srgbClr val="0000FF"/>
                </a:solidFill>
                <a:latin typeface="Berlin Sans FB" pitchFamily="34" charset="0"/>
                <a:ea typeface="等线 Light" charset="0"/>
                <a:cs typeface="Aptos Display" charset="0"/>
              </a:rPr>
              <a:t> </a:t>
            </a:r>
            <a:r>
              <a:rPr lang="en-US" altLang="zh-CN" sz="2800" b="1" i="0" u="none" strike="noStrike" kern="1200" cap="none" spc="0" baseline="0" dirty="0">
                <a:solidFill>
                  <a:srgbClr val="0000FF"/>
                </a:solidFill>
                <a:latin typeface="Merriweather" pitchFamily="18" charset="0"/>
                <a:ea typeface="等线 Light" charset="0"/>
                <a:cs typeface="Aptos Display" charset="0"/>
              </a:rPr>
              <a:t>Abstract: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automate workforce management processes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manual work and errors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task allocation efficiency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real-time tracking of workers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manage customer requests effectively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productivity and decision-making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i="0" u="none" strike="noStrike" kern="1200" cap="none" spc="0" baseline="0" dirty="0">
                <a:solidFill>
                  <a:srgbClr val="0000FF"/>
                </a:solidFill>
                <a:latin typeface="Merriweather" pitchFamily="18" charset="0"/>
                <a:ea typeface="等线 Light" charset="0"/>
                <a:cs typeface="Aptos Display" charset="0"/>
              </a:rPr>
              <a:t>Keywords:  </a:t>
            </a:r>
          </a:p>
          <a:p>
            <a:pPr marL="285750" lvl="0" indent="-285750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Workforce Management </a:t>
            </a:r>
          </a:p>
          <a:p>
            <a:pPr marL="285750" lvl="0" indent="-285750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Allocation </a:t>
            </a:r>
          </a:p>
          <a:p>
            <a:pPr marL="285750" lvl="0" indent="-285750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Tracking </a:t>
            </a:r>
          </a:p>
          <a:p>
            <a:pPr marL="285750" lvl="0" indent="-285750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</a:t>
            </a:r>
          </a:p>
          <a:p>
            <a:pPr marL="285750" lvl="0" indent="-285750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</a:t>
            </a:r>
          </a:p>
          <a:p>
            <a:endParaRPr lang="en-US" altLang="zh-CN" sz="2800" b="1" i="0" u="none" strike="noStrike" kern="1200" cap="none" spc="0" baseline="0" dirty="0">
              <a:solidFill>
                <a:srgbClr val="0000FF"/>
              </a:solidFill>
              <a:latin typeface="Merriweather" pitchFamily="18" charset="0"/>
              <a:ea typeface="等线 Light" charset="0"/>
              <a:cs typeface="Aptos Display" charset="0"/>
            </a:endParaRPr>
          </a:p>
          <a:p>
            <a:pPr marL="0" indent="0" algn="l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800" b="1" i="0" u="none" strike="noStrike" kern="1200" cap="none" spc="0" baseline="0" dirty="0">
              <a:solidFill>
                <a:srgbClr val="0000FF"/>
              </a:solidFill>
              <a:latin typeface="Merriweather" pitchFamily="18" charset="0"/>
              <a:ea typeface="等线 Light" charset="0"/>
              <a:cs typeface="Aptos Display" charset="0"/>
            </a:endParaRPr>
          </a:p>
          <a:p>
            <a:pPr marL="0" indent="0" algn="l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800" b="1" i="0" u="none" strike="noStrike" kern="1200" cap="none" spc="0" baseline="0" dirty="0">
              <a:solidFill>
                <a:srgbClr val="0000FF"/>
              </a:solidFill>
              <a:latin typeface="Merriweather" pitchFamily="18" charset="0"/>
              <a:ea typeface="等线 Light" charset="0"/>
              <a:cs typeface="Aptos Display" charset="0"/>
            </a:endParaRPr>
          </a:p>
          <a:p>
            <a:pPr marL="0" indent="0" algn="l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800" b="1" i="0" u="none" strike="noStrike" kern="1200" cap="none" spc="0" baseline="0" dirty="0">
              <a:solidFill>
                <a:srgbClr val="0000FF"/>
              </a:solidFill>
              <a:latin typeface="Merriweather" pitchFamily="18" charset="0"/>
              <a:ea typeface="等线 Light" charset="0"/>
              <a:cs typeface="Aptos Display" charset="0"/>
            </a:endParaRPr>
          </a:p>
        </p:txBody>
      </p:sp>
      <p:sp>
        <p:nvSpPr>
          <p:cNvPr id="24" name="矩形"/>
          <p:cNvSpPr>
            <a:spLocks/>
          </p:cNvSpPr>
          <p:nvPr/>
        </p:nvSpPr>
        <p:spPr>
          <a:xfrm>
            <a:off x="1809548" y="6133259"/>
            <a:ext cx="8864868" cy="52451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 eaLnBrk="1" latinLnBrk="0" hangingPunct="1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300" b="0" i="0" u="none" strike="noStrike" kern="1200" cap="none" spc="0" baseline="0">
                <a:solidFill>
                  <a:srgbClr val="0000FF"/>
                </a:solidFill>
                <a:latin typeface="Berlin Sans FB" pitchFamily="34" charset="0"/>
                <a:ea typeface="等线 Light" charset="0"/>
                <a:cs typeface="Aptos Display" charset="0"/>
              </a:rPr>
              <a:t> </a:t>
            </a:r>
            <a:r>
              <a:rPr lang="en-US" altLang="zh-CN" sz="2600" b="1" i="0" u="none" strike="noStrike" kern="1200" cap="none" spc="0" baseline="0">
                <a:solidFill>
                  <a:srgbClr val="FF0000"/>
                </a:solidFill>
                <a:latin typeface="Times New Roman" pitchFamily="18" charset="0"/>
                <a:ea typeface="等线 Light" charset="0"/>
                <a:cs typeface="Aptos Display" charset="0"/>
              </a:rPr>
              <a:t>Dept. of Computer Science &amp; Engineering</a:t>
            </a:r>
            <a:endParaRPr lang="zh-CN" altLang="en-US" sz="2600" b="1" i="0" u="none" strike="noStrike" kern="1200" cap="none" spc="0" baseline="0">
              <a:solidFill>
                <a:srgbClr val="FF0000"/>
              </a:solidFill>
              <a:latin typeface="Times New Roman" pitchFamily="18" charset="0"/>
              <a:ea typeface="等线 Light" charset="0"/>
              <a:cs typeface="Aptos Display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957F96-89F8-6942-99A8-82D1AC226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Workforce Management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 Allocation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Tracking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Application </a:t>
            </a:r>
          </a:p>
        </p:txBody>
      </p:sp>
    </p:spTree>
    <p:extLst>
      <p:ext uri="{BB962C8B-B14F-4D97-AF65-F5344CB8AC3E}">
        <p14:creationId xmlns:p14="http://schemas.microsoft.com/office/powerpoint/2010/main" val="2073946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圆角矩形"/>
          <p:cNvSpPr>
            <a:spLocks/>
          </p:cNvSpPr>
          <p:nvPr/>
        </p:nvSpPr>
        <p:spPr>
          <a:xfrm>
            <a:off x="304799" y="6041570"/>
            <a:ext cx="11636830" cy="707886"/>
          </a:xfrm>
          <a:prstGeom prst="roundRect">
            <a:avLst>
              <a:gd name="adj" fmla="val 16666"/>
            </a:avLst>
          </a:prstGeom>
          <a:solidFill>
            <a:srgbClr val="95DBF7">
              <a:alpha val="88000"/>
            </a:srgbClr>
          </a:solidFill>
          <a:ln w="19050" cap="flat" cmpd="sng">
            <a:solidFill>
              <a:srgbClr val="000000"/>
            </a:solidFill>
            <a:prstDash val="solid"/>
            <a:round/>
          </a:ln>
        </p:spPr>
      </p:sp>
      <p:pic>
        <p:nvPicPr>
          <p:cNvPr id="26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435"/>
            <a:ext cx="12192000" cy="95410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27" name="矩形"/>
          <p:cNvSpPr>
            <a:spLocks/>
          </p:cNvSpPr>
          <p:nvPr/>
        </p:nvSpPr>
        <p:spPr>
          <a:xfrm>
            <a:off x="1127760" y="1463040"/>
            <a:ext cx="6583680" cy="52451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eaLnBrk="1" latinLnBrk="0" hangingPunct="1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300" b="0" i="0" u="none" strike="noStrike" kern="1200" cap="none" spc="0" baseline="0">
                <a:solidFill>
                  <a:srgbClr val="0000FF"/>
                </a:solidFill>
                <a:latin typeface="Berlin Sans FB" pitchFamily="34" charset="0"/>
                <a:ea typeface="等线 Light" charset="0"/>
                <a:cs typeface="Aptos Display" charset="0"/>
              </a:rPr>
              <a:t> </a:t>
            </a:r>
            <a:r>
              <a:rPr lang="en-US" altLang="zh-CN" sz="2600" b="1" i="0" u="none" strike="noStrike" kern="1200" cap="none" spc="0" baseline="0">
                <a:solidFill>
                  <a:srgbClr val="0000FF"/>
                </a:solidFill>
                <a:latin typeface="Merriweather" pitchFamily="18" charset="0"/>
                <a:ea typeface="等线 Light" charset="0"/>
                <a:cs typeface="Aptos Display" charset="0"/>
              </a:rPr>
              <a:t>Introduction</a:t>
            </a:r>
            <a:endParaRPr lang="zh-CN" altLang="en-US" sz="2600" b="1" i="0" u="none" strike="noStrike" kern="1200" cap="none" spc="0" baseline="0">
              <a:solidFill>
                <a:srgbClr val="0000FF"/>
              </a:solidFill>
              <a:latin typeface="Merriweather" pitchFamily="18" charset="0"/>
              <a:ea typeface="等线 Light" charset="0"/>
              <a:cs typeface="Aptos Display" charset="0"/>
            </a:endParaRPr>
          </a:p>
        </p:txBody>
      </p:sp>
      <p:sp>
        <p:nvSpPr>
          <p:cNvPr id="28" name="矩形"/>
          <p:cNvSpPr>
            <a:spLocks/>
          </p:cNvSpPr>
          <p:nvPr/>
        </p:nvSpPr>
        <p:spPr>
          <a:xfrm>
            <a:off x="1127760" y="2243709"/>
            <a:ext cx="8696962" cy="251459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Workforce Management System (WFM)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web-based application designed to manage and optimize workforce operations in an organization.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administrators efficiently handle workers, customers, task assignments, and service requests in real-time.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provides a centralized platform where all workforce-related activities such as worker availability, request management, and task progress can be monitored and controlled.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creating a smart system to manage workforce activities easily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better coordination between admin, workers, and customers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in organizing tasks and improving overall performance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 defTabSz="73152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zh-CN" altLang="en-US" sz="2600" b="0" i="0" u="none" strike="noStrike" kern="1200" cap="none" spc="0" baseline="0" dirty="0">
              <a:solidFill>
                <a:schemeClr val="tx1"/>
              </a:solidFill>
              <a:latin typeface="Times New Roman" panose="02020603050405020304" pitchFamily="18" charset="0"/>
              <a:ea typeface="等线" charset="0"/>
              <a:cs typeface="Times New Roman" panose="02020603050405020304" pitchFamily="18" charset="0"/>
            </a:endParaRPr>
          </a:p>
        </p:txBody>
      </p:sp>
      <p:sp>
        <p:nvSpPr>
          <p:cNvPr id="29" name="矩形"/>
          <p:cNvSpPr>
            <a:spLocks/>
          </p:cNvSpPr>
          <p:nvPr/>
        </p:nvSpPr>
        <p:spPr>
          <a:xfrm>
            <a:off x="1809548" y="6133259"/>
            <a:ext cx="8864868" cy="52451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 eaLnBrk="1" fontAlgn="auto" latinLnBrk="0" hangingPunct="1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300" b="0" i="0" u="none" strike="noStrike" kern="1200" cap="none" spc="0" baseline="0">
                <a:solidFill>
                  <a:srgbClr val="0000FF"/>
                </a:solidFill>
                <a:latin typeface="Berlin Sans FB" pitchFamily="34" charset="0"/>
                <a:ea typeface="等线 Light" charset="0"/>
                <a:cs typeface="Aptos Display" charset="0"/>
              </a:rPr>
              <a:t> </a:t>
            </a:r>
            <a:r>
              <a:rPr lang="en-US" altLang="zh-CN" sz="2600" b="1" i="0" u="none" strike="noStrike" kern="1200" cap="none" spc="0" baseline="0">
                <a:solidFill>
                  <a:srgbClr val="FF0000"/>
                </a:solidFill>
                <a:latin typeface="Times New Roman" pitchFamily="18" charset="0"/>
                <a:ea typeface="等线 Light" charset="0"/>
                <a:cs typeface="Aptos Display" charset="0"/>
              </a:rPr>
              <a:t>Dept. of Computer Science &amp; Engineering</a:t>
            </a:r>
            <a:endParaRPr lang="zh-CN" altLang="en-US" sz="2600" b="1" i="0" u="none" strike="noStrike" kern="1200" cap="none" spc="0" baseline="0">
              <a:solidFill>
                <a:srgbClr val="FF0000"/>
              </a:solidFill>
              <a:latin typeface="Times New Roman" pitchFamily="18" charset="0"/>
              <a:ea typeface="等线 Light" charset="0"/>
              <a:cs typeface="Aptos Displa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28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圆角矩形"/>
          <p:cNvSpPr>
            <a:spLocks/>
          </p:cNvSpPr>
          <p:nvPr/>
        </p:nvSpPr>
        <p:spPr>
          <a:xfrm>
            <a:off x="304799" y="6041570"/>
            <a:ext cx="11636830" cy="707886"/>
          </a:xfrm>
          <a:prstGeom prst="roundRect">
            <a:avLst>
              <a:gd name="adj" fmla="val 16666"/>
            </a:avLst>
          </a:prstGeom>
          <a:solidFill>
            <a:srgbClr val="95DBF7">
              <a:alpha val="88000"/>
            </a:srgbClr>
          </a:solidFill>
          <a:ln w="19050" cap="flat" cmpd="sng">
            <a:solidFill>
              <a:srgbClr val="000000"/>
            </a:solidFill>
            <a:prstDash val="solid"/>
            <a:round/>
          </a:ln>
        </p:spPr>
      </p:sp>
      <p:pic>
        <p:nvPicPr>
          <p:cNvPr id="31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435"/>
            <a:ext cx="12192000" cy="95410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32" name="矩形"/>
          <p:cNvSpPr>
            <a:spLocks/>
          </p:cNvSpPr>
          <p:nvPr/>
        </p:nvSpPr>
        <p:spPr>
          <a:xfrm>
            <a:off x="304799" y="1615439"/>
            <a:ext cx="10464800" cy="36640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workforce management systems mainly rely 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processes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lead to inefficiency and errors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digital systems provide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task management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lack real-time tracking and proper coordination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applications focus only 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management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integrating customer requests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systems use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technologies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accessibility and centralized control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shows that automation in workforce systems helps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workload and improving productivity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many existing solutions are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complex, costly, or not suitable for small organizations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provide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simple, efficient, and cost-effective workforce management solution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l" defTabSz="73152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66"/>
              </a:buClr>
              <a:buFont typeface="Wingdings" panose="05000000000000000000" pitchFamily="2" charset="2"/>
              <a:buChar char="§"/>
            </a:pPr>
            <a:endParaRPr lang="zh-CN" altLang="en-US" sz="2000" b="0" i="0" u="none" strike="noStrike" kern="1200" cap="none" spc="0" baseline="0" dirty="0">
              <a:solidFill>
                <a:schemeClr val="tx1"/>
              </a:solidFill>
              <a:latin typeface="Times New Roman" panose="02020603050405020304" pitchFamily="18" charset="0"/>
              <a:ea typeface="等线" charset="0"/>
              <a:cs typeface="Times New Roman" panose="02020603050405020304" pitchFamily="18" charset="0"/>
            </a:endParaRPr>
          </a:p>
        </p:txBody>
      </p:sp>
      <p:sp>
        <p:nvSpPr>
          <p:cNvPr id="33" name="矩形"/>
          <p:cNvSpPr>
            <a:spLocks/>
          </p:cNvSpPr>
          <p:nvPr/>
        </p:nvSpPr>
        <p:spPr>
          <a:xfrm>
            <a:off x="215184" y="1158239"/>
            <a:ext cx="6583680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eaLnBrk="1" latinLnBrk="0" hangingPunct="1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 dirty="0">
                <a:solidFill>
                  <a:srgbClr val="0000FF"/>
                </a:solidFill>
                <a:latin typeface="Merriweather" pitchFamily="18" charset="0"/>
                <a:ea typeface="等线 Light" charset="0"/>
                <a:cs typeface="Aptos Display" charset="0"/>
              </a:rPr>
              <a:t>Literature</a:t>
            </a:r>
            <a:r>
              <a:rPr lang="en-US" altLang="zh-CN" sz="2400" b="1" i="0" u="none" strike="noStrike" kern="1200" cap="none" spc="0" baseline="0" dirty="0">
                <a:solidFill>
                  <a:srgbClr val="0000FF"/>
                </a:solidFill>
                <a:latin typeface="Merriweather" pitchFamily="18" charset="0"/>
                <a:ea typeface="等线 Light" charset="0"/>
                <a:cs typeface="Aptos Display" charset="0"/>
              </a:rPr>
              <a:t> </a:t>
            </a:r>
            <a:r>
              <a:rPr lang="en-US" altLang="zh-CN" sz="2800" b="1" i="0" u="none" strike="noStrike" kern="1200" cap="none" spc="0" baseline="0" dirty="0">
                <a:solidFill>
                  <a:srgbClr val="0000FF"/>
                </a:solidFill>
                <a:latin typeface="Merriweather" pitchFamily="18" charset="0"/>
                <a:ea typeface="等线 Light" charset="0"/>
                <a:cs typeface="Aptos Display" charset="0"/>
              </a:rPr>
              <a:t>Survey</a:t>
            </a:r>
            <a:endParaRPr lang="zh-CN" altLang="en-US" sz="2800" b="1" i="0" u="none" strike="noStrike" kern="1200" cap="none" spc="0" baseline="0" dirty="0">
              <a:solidFill>
                <a:srgbClr val="0000FF"/>
              </a:solidFill>
              <a:latin typeface="Merriweather" pitchFamily="18" charset="0"/>
              <a:ea typeface="等线 Light" charset="0"/>
              <a:cs typeface="Aptos Display" charset="0"/>
            </a:endParaRPr>
          </a:p>
        </p:txBody>
      </p:sp>
      <p:sp>
        <p:nvSpPr>
          <p:cNvPr id="34" name="矩形"/>
          <p:cNvSpPr>
            <a:spLocks/>
          </p:cNvSpPr>
          <p:nvPr/>
        </p:nvSpPr>
        <p:spPr>
          <a:xfrm>
            <a:off x="1663566" y="6133259"/>
            <a:ext cx="8864868" cy="52451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 eaLnBrk="1" latinLnBrk="0" hangingPunct="1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300" b="0" i="0" u="none" strike="noStrike" kern="1200" cap="none" spc="0" baseline="0">
                <a:solidFill>
                  <a:srgbClr val="0000FF"/>
                </a:solidFill>
                <a:latin typeface="Berlin Sans FB" pitchFamily="34" charset="0"/>
                <a:ea typeface="等线 Light" charset="0"/>
                <a:cs typeface="Aptos Display" charset="0"/>
              </a:rPr>
              <a:t> </a:t>
            </a:r>
            <a:r>
              <a:rPr lang="en-US" altLang="zh-CN" sz="2600" b="1" i="0" u="none" strike="noStrike" kern="1200" cap="none" spc="0" baseline="0">
                <a:solidFill>
                  <a:srgbClr val="FF0000"/>
                </a:solidFill>
                <a:latin typeface="Times New Roman" pitchFamily="18" charset="0"/>
                <a:ea typeface="等线 Light" charset="0"/>
                <a:cs typeface="Aptos Display" charset="0"/>
              </a:rPr>
              <a:t>Dept. of Computer Science &amp; Engineering</a:t>
            </a:r>
            <a:endParaRPr lang="zh-CN" altLang="en-US" sz="2600" b="1" i="0" u="none" strike="noStrike" kern="1200" cap="none" spc="0" baseline="0">
              <a:solidFill>
                <a:srgbClr val="FF0000"/>
              </a:solidFill>
              <a:latin typeface="Times New Roman" pitchFamily="18" charset="0"/>
              <a:ea typeface="等线 Light" charset="0"/>
              <a:cs typeface="Aptos Displa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989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圆角矩形"/>
          <p:cNvSpPr>
            <a:spLocks/>
          </p:cNvSpPr>
          <p:nvPr/>
        </p:nvSpPr>
        <p:spPr>
          <a:xfrm>
            <a:off x="304799" y="6041570"/>
            <a:ext cx="11636830" cy="707886"/>
          </a:xfrm>
          <a:prstGeom prst="roundRect">
            <a:avLst>
              <a:gd name="adj" fmla="val 16666"/>
            </a:avLst>
          </a:prstGeom>
          <a:solidFill>
            <a:srgbClr val="95DBF7">
              <a:alpha val="88000"/>
            </a:srgbClr>
          </a:solidFill>
          <a:ln w="19050" cap="flat" cmpd="sng">
            <a:solidFill>
              <a:srgbClr val="000000"/>
            </a:solidFill>
            <a:prstDash val="solid"/>
            <a:round/>
          </a:ln>
        </p:spPr>
      </p:sp>
      <p:pic>
        <p:nvPicPr>
          <p:cNvPr id="36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435"/>
            <a:ext cx="12192000" cy="95410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37" name="矩形"/>
          <p:cNvSpPr>
            <a:spLocks/>
          </p:cNvSpPr>
          <p:nvPr/>
        </p:nvSpPr>
        <p:spPr>
          <a:xfrm>
            <a:off x="917786" y="2809240"/>
            <a:ext cx="8742681" cy="24536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 sz="2800" b="1" i="0" u="none" strike="noStrike" kern="1200" cap="none" spc="0" baseline="0" dirty="0">
                <a:solidFill>
                  <a:srgbClr val="0000FF"/>
                </a:solidFill>
                <a:latin typeface="Merriweather" pitchFamily="18" charset="0"/>
                <a:ea typeface="等线 Light" charset="0"/>
                <a:cs typeface="Aptos Display" charset="0"/>
              </a:rPr>
              <a:t>Problem Definition: </a:t>
            </a:r>
            <a:endParaRPr lang="en-US" altLang="zh-CN" sz="2800" b="1" dirty="0">
              <a:solidFill>
                <a:srgbClr val="0000FF"/>
              </a:solidFill>
              <a:latin typeface="Merriweather" pitchFamily="18" charset="0"/>
              <a:ea typeface="等线 Light" charset="0"/>
              <a:cs typeface="Aptos Display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ea typeface="等线 Light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many service-based organizations, workforce management is still handled using manual or semi-digital methods, leading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inefficiency, lack of coordination, and poor tracking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tasks and workers.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manage workers, customer requests, and task assignments in real-time. As a result: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allocation becomes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and unorganized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Worker availability is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tracked properly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requests are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or mismanaged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monitoring of task progress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chances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errors and data inconsistency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gap between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admin, workers, and customers.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800" b="1" i="0" u="none" strike="noStrike" kern="1200" cap="none" spc="0" baseline="0" dirty="0">
              <a:solidFill>
                <a:srgbClr val="0000FF"/>
              </a:solidFill>
              <a:latin typeface="Merriweather" pitchFamily="18" charset="0"/>
              <a:ea typeface="等线 Light" charset="0"/>
              <a:cs typeface="Aptos Display" charset="0"/>
            </a:endParaRPr>
          </a:p>
          <a:p>
            <a:pPr marL="0" indent="0" algn="l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800" b="1" i="0" u="none" strike="noStrike" kern="1200" cap="none" spc="0" baseline="0" dirty="0">
              <a:solidFill>
                <a:srgbClr val="0000FF"/>
              </a:solidFill>
              <a:latin typeface="Merriweather" pitchFamily="18" charset="0"/>
              <a:ea typeface="等线 Light" charset="0"/>
              <a:cs typeface="Aptos Display" charset="0"/>
            </a:endParaRPr>
          </a:p>
          <a:p>
            <a:pPr marL="0" indent="0" algn="l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600" b="1" i="0" u="none" strike="noStrike" kern="1200" cap="none" spc="0" baseline="0" dirty="0">
              <a:solidFill>
                <a:srgbClr val="0000FF"/>
              </a:solidFill>
              <a:latin typeface="Merriweather" pitchFamily="18" charset="0"/>
              <a:ea typeface="等线 Light" charset="0"/>
              <a:cs typeface="Aptos Display" charset="0"/>
            </a:endParaRPr>
          </a:p>
          <a:p>
            <a:pPr marL="0" indent="0" algn="l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 dirty="0">
                <a:solidFill>
                  <a:srgbClr val="0000FF"/>
                </a:solidFill>
                <a:latin typeface="Merriweather" pitchFamily="18" charset="0"/>
                <a:ea typeface="等线 Light" charset="0"/>
                <a:cs typeface="Aptos Display" charset="0"/>
              </a:rPr>
              <a:t>  </a:t>
            </a:r>
            <a:endParaRPr lang="zh-CN" altLang="en-US" sz="2800" b="1" i="0" u="none" strike="noStrike" kern="1200" cap="none" spc="0" baseline="0" dirty="0">
              <a:solidFill>
                <a:schemeClr val="tx1"/>
              </a:solidFill>
              <a:latin typeface="Merriweather" pitchFamily="18" charset="0"/>
              <a:ea typeface="等线 Light" charset="0"/>
              <a:cs typeface="Aptos Display" charset="0"/>
            </a:endParaRPr>
          </a:p>
        </p:txBody>
      </p:sp>
      <p:sp>
        <p:nvSpPr>
          <p:cNvPr id="38" name="矩形"/>
          <p:cNvSpPr>
            <a:spLocks/>
          </p:cNvSpPr>
          <p:nvPr/>
        </p:nvSpPr>
        <p:spPr>
          <a:xfrm>
            <a:off x="1690780" y="6133259"/>
            <a:ext cx="8864868" cy="52451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 eaLnBrk="1" latinLnBrk="0" hangingPunct="1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300" b="0" i="0" u="none" strike="noStrike" kern="1200" cap="none" spc="0" baseline="0">
                <a:solidFill>
                  <a:srgbClr val="0000FF"/>
                </a:solidFill>
                <a:latin typeface="Berlin Sans FB" pitchFamily="34" charset="0"/>
                <a:ea typeface="等线 Light" charset="0"/>
                <a:cs typeface="Aptos Display" charset="0"/>
              </a:rPr>
              <a:t> </a:t>
            </a:r>
            <a:r>
              <a:rPr lang="en-US" altLang="zh-CN" sz="2600" b="1" i="0" u="none" strike="noStrike" kern="1200" cap="none" spc="0" baseline="0">
                <a:solidFill>
                  <a:srgbClr val="FF0000"/>
                </a:solidFill>
                <a:latin typeface="Times New Roman" pitchFamily="18" charset="0"/>
                <a:ea typeface="等线 Light" charset="0"/>
                <a:cs typeface="Aptos Display" charset="0"/>
              </a:rPr>
              <a:t>Dept. of Computer Science &amp; Engineering</a:t>
            </a:r>
            <a:endParaRPr lang="zh-CN" altLang="en-US" sz="2600" b="1" i="0" u="none" strike="noStrike" kern="1200" cap="none" spc="0" baseline="0">
              <a:solidFill>
                <a:srgbClr val="FF0000"/>
              </a:solidFill>
              <a:latin typeface="Times New Roman" pitchFamily="18" charset="0"/>
              <a:ea typeface="等线 Light" charset="0"/>
              <a:cs typeface="Aptos Displa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272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圆角矩形"/>
          <p:cNvSpPr>
            <a:spLocks/>
          </p:cNvSpPr>
          <p:nvPr/>
        </p:nvSpPr>
        <p:spPr>
          <a:xfrm>
            <a:off x="304799" y="6041570"/>
            <a:ext cx="11636830" cy="707886"/>
          </a:xfrm>
          <a:prstGeom prst="roundRect">
            <a:avLst>
              <a:gd name="adj" fmla="val 16666"/>
            </a:avLst>
          </a:prstGeom>
          <a:solidFill>
            <a:srgbClr val="95DBF7">
              <a:alpha val="88000"/>
            </a:srgbClr>
          </a:solidFill>
          <a:ln w="19050" cap="flat" cmpd="sng">
            <a:solidFill>
              <a:srgbClr val="000000"/>
            </a:solidFill>
            <a:prstDash val="solid"/>
            <a:round/>
          </a:ln>
        </p:spPr>
      </p:sp>
      <p:pic>
        <p:nvPicPr>
          <p:cNvPr id="40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435"/>
            <a:ext cx="12192000" cy="95410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41" name="矩形"/>
          <p:cNvSpPr>
            <a:spLocks/>
          </p:cNvSpPr>
          <p:nvPr/>
        </p:nvSpPr>
        <p:spPr>
          <a:xfrm>
            <a:off x="1391920" y="2682240"/>
            <a:ext cx="8742681" cy="24536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 sz="2800" b="1" i="0" u="none" strike="noStrike" kern="1200" cap="none" spc="0" baseline="0" dirty="0">
                <a:solidFill>
                  <a:srgbClr val="0000FF"/>
                </a:solidFill>
                <a:latin typeface="Merriweather" pitchFamily="18" charset="0"/>
                <a:ea typeface="等线 Light" charset="0"/>
                <a:cs typeface="Aptos Display" charset="0"/>
              </a:rPr>
              <a:t>Existing work: </a:t>
            </a:r>
          </a:p>
          <a:p>
            <a:endParaRPr lang="en-US" altLang="zh-CN" sz="2800" b="1" i="0" u="none" strike="noStrike" kern="1200" cap="none" spc="0" baseline="0" dirty="0">
              <a:solidFill>
                <a:srgbClr val="0000FF"/>
              </a:solidFill>
              <a:latin typeface="Merriweather" pitchFamily="18" charset="0"/>
              <a:ea typeface="等线 Light" charset="0"/>
              <a:cs typeface="Aptos Display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traditional systems: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managed manually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tracking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assignment is inefficient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chances of errors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processes </a:t>
            </a:r>
          </a:p>
          <a:p>
            <a:pPr marL="0" indent="0" algn="l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 dirty="0">
                <a:solidFill>
                  <a:srgbClr val="0000FF"/>
                </a:solidFill>
                <a:latin typeface="Times New Roman" panose="02020603050405020304" pitchFamily="18" charset="0"/>
                <a:ea typeface="等线 Light" charset="0"/>
                <a:cs typeface="Times New Roman" panose="02020603050405020304" pitchFamily="18" charset="0"/>
              </a:rPr>
              <a:t> </a:t>
            </a:r>
          </a:p>
          <a:p>
            <a:pPr marL="0" indent="0" algn="l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800" b="1" i="0" u="none" strike="noStrike" kern="1200" cap="none" spc="0" baseline="0" dirty="0">
              <a:solidFill>
                <a:srgbClr val="0000FF"/>
              </a:solidFill>
              <a:latin typeface="Merriweather" pitchFamily="18" charset="0"/>
              <a:ea typeface="等线 Light" charset="0"/>
              <a:cs typeface="Aptos Display" charset="0"/>
            </a:endParaRPr>
          </a:p>
          <a:p>
            <a:pPr marL="0" indent="0" algn="l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800" b="1" i="0" u="none" strike="noStrike" kern="1200" cap="none" spc="0" baseline="0" dirty="0">
              <a:solidFill>
                <a:srgbClr val="0000FF"/>
              </a:solidFill>
              <a:latin typeface="Merriweather" pitchFamily="18" charset="0"/>
              <a:ea typeface="等线 Light" charset="0"/>
              <a:cs typeface="Aptos Display" charset="0"/>
            </a:endParaRPr>
          </a:p>
          <a:p>
            <a:pPr marL="0" indent="0" algn="l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 dirty="0">
                <a:solidFill>
                  <a:srgbClr val="0000FF"/>
                </a:solidFill>
                <a:latin typeface="Merriweather" pitchFamily="18" charset="0"/>
                <a:ea typeface="等线 Light" charset="0"/>
                <a:cs typeface="Aptos Display" charset="0"/>
              </a:rPr>
              <a:t>  </a:t>
            </a:r>
            <a:endParaRPr lang="zh-CN" altLang="en-US" sz="2800" b="1" i="0" u="none" strike="noStrike" kern="1200" cap="none" spc="0" baseline="0" dirty="0">
              <a:solidFill>
                <a:srgbClr val="0000FF"/>
              </a:solidFill>
              <a:latin typeface="Merriweather" pitchFamily="18" charset="0"/>
              <a:ea typeface="等线 Light" charset="0"/>
              <a:cs typeface="Aptos Display" charset="0"/>
            </a:endParaRPr>
          </a:p>
        </p:txBody>
      </p:sp>
      <p:sp>
        <p:nvSpPr>
          <p:cNvPr id="42" name="矩形"/>
          <p:cNvSpPr>
            <a:spLocks/>
          </p:cNvSpPr>
          <p:nvPr/>
        </p:nvSpPr>
        <p:spPr>
          <a:xfrm>
            <a:off x="1690780" y="6133259"/>
            <a:ext cx="8864868" cy="52451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 eaLnBrk="1" latinLnBrk="0" hangingPunct="1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300" b="0" i="0" u="none" strike="noStrike" kern="1200" cap="none" spc="0" baseline="0">
                <a:solidFill>
                  <a:srgbClr val="0000FF"/>
                </a:solidFill>
                <a:latin typeface="Berlin Sans FB" pitchFamily="34" charset="0"/>
                <a:ea typeface="等线 Light" charset="0"/>
                <a:cs typeface="Aptos Display" charset="0"/>
              </a:rPr>
              <a:t> </a:t>
            </a:r>
            <a:r>
              <a:rPr lang="en-US" altLang="zh-CN" sz="2600" b="1" i="0" u="none" strike="noStrike" kern="1200" cap="none" spc="0" baseline="0">
                <a:solidFill>
                  <a:srgbClr val="FF0000"/>
                </a:solidFill>
                <a:latin typeface="Times New Roman" pitchFamily="18" charset="0"/>
                <a:ea typeface="等线 Light" charset="0"/>
                <a:cs typeface="Aptos Display" charset="0"/>
              </a:rPr>
              <a:t>Dept. of Computer Science &amp; Engineering</a:t>
            </a:r>
            <a:endParaRPr lang="zh-CN" altLang="en-US" sz="2600" b="1" i="0" u="none" strike="noStrike" kern="1200" cap="none" spc="0" baseline="0">
              <a:solidFill>
                <a:srgbClr val="FF0000"/>
              </a:solidFill>
              <a:latin typeface="Times New Roman" pitchFamily="18" charset="0"/>
              <a:ea typeface="等线 Light" charset="0"/>
              <a:cs typeface="Aptos Displa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90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圆角矩形"/>
          <p:cNvSpPr>
            <a:spLocks/>
          </p:cNvSpPr>
          <p:nvPr/>
        </p:nvSpPr>
        <p:spPr>
          <a:xfrm>
            <a:off x="304799" y="6041570"/>
            <a:ext cx="11636830" cy="707886"/>
          </a:xfrm>
          <a:prstGeom prst="roundRect">
            <a:avLst>
              <a:gd name="adj" fmla="val 16666"/>
            </a:avLst>
          </a:prstGeom>
          <a:solidFill>
            <a:srgbClr val="95DBF7">
              <a:alpha val="88000"/>
            </a:srgbClr>
          </a:solidFill>
          <a:ln w="19050" cap="flat" cmpd="sng">
            <a:solidFill>
              <a:srgbClr val="000000"/>
            </a:solidFill>
            <a:prstDash val="solid"/>
            <a:round/>
          </a:ln>
        </p:spPr>
      </p:sp>
      <p:pic>
        <p:nvPicPr>
          <p:cNvPr id="44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435"/>
            <a:ext cx="12192000" cy="95410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45" name="矩形"/>
          <p:cNvSpPr>
            <a:spLocks/>
          </p:cNvSpPr>
          <p:nvPr/>
        </p:nvSpPr>
        <p:spPr>
          <a:xfrm>
            <a:off x="1676400" y="1793239"/>
            <a:ext cx="8229601" cy="307509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 dirty="0">
                <a:solidFill>
                  <a:srgbClr val="0000FF"/>
                </a:solidFill>
                <a:latin typeface="Merriweather" pitchFamily="18" charset="0"/>
                <a:ea typeface="等线 Light" charset="0"/>
                <a:cs typeface="Aptos Display" charset="0"/>
              </a:rPr>
              <a:t>Proposed work: </a:t>
            </a:r>
          </a:p>
          <a:p>
            <a:pPr marL="0" indent="0" algn="l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800" b="1" i="0" u="none" strike="noStrike" kern="1200" cap="none" spc="0" baseline="0" dirty="0">
              <a:solidFill>
                <a:srgbClr val="0000FF"/>
              </a:solidFill>
              <a:latin typeface="Merriweather" pitchFamily="18" charset="0"/>
              <a:ea typeface="等线 Light" charset="0"/>
              <a:cs typeface="Aptos Display" charset="0"/>
            </a:endParaRPr>
          </a:p>
          <a:p>
            <a:pPr marL="0" indent="0" algn="l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solves these issues by:</a:t>
            </a:r>
          </a:p>
          <a:p>
            <a:pPr marL="0" indent="0" algn="l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Automating workforce operations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Providing a real-time dashboard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task allocation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data management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communication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l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800" b="1" i="0" u="none" strike="noStrike" kern="1200" cap="none" spc="0" baseline="0" dirty="0">
              <a:solidFill>
                <a:srgbClr val="0000FF"/>
              </a:solidFill>
              <a:latin typeface="Merriweather" pitchFamily="18" charset="0"/>
              <a:ea typeface="等线 Light" charset="0"/>
              <a:cs typeface="Aptos Display" charset="0"/>
            </a:endParaRPr>
          </a:p>
        </p:txBody>
      </p:sp>
      <p:sp>
        <p:nvSpPr>
          <p:cNvPr id="46" name="矩形"/>
          <p:cNvSpPr>
            <a:spLocks/>
          </p:cNvSpPr>
          <p:nvPr/>
        </p:nvSpPr>
        <p:spPr>
          <a:xfrm>
            <a:off x="1578543" y="6133259"/>
            <a:ext cx="8864867" cy="52451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 eaLnBrk="1" latinLnBrk="0" hangingPunct="1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300" b="0" i="0" u="none" strike="noStrike" kern="1200" cap="none" spc="0" baseline="0">
                <a:solidFill>
                  <a:srgbClr val="0000FF"/>
                </a:solidFill>
                <a:latin typeface="Berlin Sans FB" pitchFamily="34" charset="0"/>
                <a:ea typeface="等线 Light" charset="0"/>
                <a:cs typeface="Aptos Display" charset="0"/>
              </a:rPr>
              <a:t> </a:t>
            </a:r>
            <a:r>
              <a:rPr lang="en-US" altLang="zh-CN" sz="2600" b="1" i="0" u="none" strike="noStrike" kern="1200" cap="none" spc="0" baseline="0">
                <a:solidFill>
                  <a:srgbClr val="FF0000"/>
                </a:solidFill>
                <a:latin typeface="Times New Roman" pitchFamily="18" charset="0"/>
                <a:ea typeface="等线 Light" charset="0"/>
                <a:cs typeface="Aptos Display" charset="0"/>
              </a:rPr>
              <a:t>Dept. of Computer Science &amp; Engineering</a:t>
            </a:r>
            <a:endParaRPr lang="zh-CN" altLang="en-US" sz="2600" b="1" i="0" u="none" strike="noStrike" kern="1200" cap="none" spc="0" baseline="0">
              <a:solidFill>
                <a:srgbClr val="FF0000"/>
              </a:solidFill>
              <a:latin typeface="Times New Roman" pitchFamily="18" charset="0"/>
              <a:ea typeface="等线 Light" charset="0"/>
              <a:cs typeface="Aptos Displa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636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圆角矩形"/>
          <p:cNvSpPr>
            <a:spLocks/>
          </p:cNvSpPr>
          <p:nvPr/>
        </p:nvSpPr>
        <p:spPr>
          <a:xfrm>
            <a:off x="304799" y="6041570"/>
            <a:ext cx="11636830" cy="707886"/>
          </a:xfrm>
          <a:prstGeom prst="roundRect">
            <a:avLst>
              <a:gd name="adj" fmla="val 16666"/>
            </a:avLst>
          </a:prstGeom>
          <a:solidFill>
            <a:srgbClr val="95DBF7">
              <a:alpha val="88000"/>
            </a:srgbClr>
          </a:solidFill>
          <a:ln w="19050" cap="flat" cmpd="sng">
            <a:solidFill>
              <a:srgbClr val="000000"/>
            </a:solidFill>
            <a:prstDash val="solid"/>
            <a:round/>
          </a:ln>
        </p:spPr>
      </p:sp>
      <p:pic>
        <p:nvPicPr>
          <p:cNvPr id="48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435"/>
            <a:ext cx="12192000" cy="95410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49" name="矩形"/>
          <p:cNvSpPr>
            <a:spLocks/>
          </p:cNvSpPr>
          <p:nvPr/>
        </p:nvSpPr>
        <p:spPr>
          <a:xfrm>
            <a:off x="892387" y="1236133"/>
            <a:ext cx="8742681" cy="168994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lvl="0"/>
            <a:endParaRPr lang="en-US" altLang="zh-CN" sz="2400" b="1" i="0" u="none" strike="noStrike" kern="1200" cap="none" spc="0" baseline="0" dirty="0">
              <a:solidFill>
                <a:srgbClr val="0000FF"/>
              </a:solidFill>
              <a:latin typeface="Merriweather" pitchFamily="18" charset="0"/>
              <a:ea typeface="等线 Light" charset="0"/>
              <a:cs typeface="Aptos Display" charset="0"/>
            </a:endParaRPr>
          </a:p>
          <a:p>
            <a:pPr lvl="0"/>
            <a:endParaRPr lang="en-US" altLang="zh-CN" sz="2400" b="1" dirty="0">
              <a:solidFill>
                <a:srgbClr val="0000FF"/>
              </a:solidFill>
              <a:latin typeface="Merriweather" pitchFamily="18" charset="0"/>
              <a:ea typeface="等线 Light" charset="0"/>
              <a:cs typeface="Aptos Display" charset="0"/>
            </a:endParaRPr>
          </a:p>
          <a:p>
            <a:pPr lvl="0"/>
            <a:endParaRPr lang="en-US" altLang="zh-CN" sz="2400" b="1" i="0" u="none" strike="noStrike" kern="1200" cap="none" spc="0" baseline="0" dirty="0">
              <a:solidFill>
                <a:srgbClr val="0000FF"/>
              </a:solidFill>
              <a:latin typeface="Merriweather" pitchFamily="18" charset="0"/>
              <a:ea typeface="等线 Light" charset="0"/>
              <a:cs typeface="Aptos Display" charset="0"/>
            </a:endParaRPr>
          </a:p>
          <a:p>
            <a:pPr lvl="0"/>
            <a:endParaRPr lang="en-US" altLang="zh-CN" sz="2400" b="1" dirty="0">
              <a:solidFill>
                <a:srgbClr val="0000FF"/>
              </a:solidFill>
              <a:latin typeface="Merriweather" pitchFamily="18" charset="0"/>
              <a:ea typeface="等线 Light" charset="0"/>
              <a:cs typeface="Aptos Display" charset="0"/>
            </a:endParaRPr>
          </a:p>
          <a:p>
            <a:pPr lvl="0"/>
            <a:endParaRPr lang="en-US" altLang="zh-CN" sz="2400" b="1" i="0" u="none" strike="noStrike" kern="1200" cap="none" spc="0" baseline="0" dirty="0">
              <a:solidFill>
                <a:srgbClr val="0000FF"/>
              </a:solidFill>
              <a:latin typeface="Merriweather" pitchFamily="18" charset="0"/>
              <a:ea typeface="等线 Light" charset="0"/>
              <a:cs typeface="Aptos Display" charset="0"/>
            </a:endParaRPr>
          </a:p>
          <a:p>
            <a:pPr lvl="0"/>
            <a:endParaRPr lang="en-US" altLang="zh-CN" sz="2400" b="1" dirty="0">
              <a:solidFill>
                <a:srgbClr val="0000FF"/>
              </a:solidFill>
              <a:latin typeface="Merriweather" pitchFamily="18" charset="0"/>
              <a:ea typeface="等线 Light" charset="0"/>
              <a:cs typeface="Aptos Display" charset="0"/>
            </a:endParaRPr>
          </a:p>
          <a:p>
            <a:pPr lvl="0"/>
            <a:r>
              <a:rPr lang="en-US" altLang="zh-CN" sz="2400" b="1" i="0" u="none" strike="noStrike" kern="1200" cap="none" spc="0" baseline="0" dirty="0">
                <a:solidFill>
                  <a:srgbClr val="0000FF"/>
                </a:solidFill>
                <a:latin typeface="Merriweather" pitchFamily="18" charset="0"/>
                <a:ea typeface="等线 Light" charset="0"/>
                <a:cs typeface="Aptos Display" charset="0"/>
              </a:rPr>
              <a:t>Hardware Specifications</a:t>
            </a:r>
            <a:r>
              <a:rPr lang="en-US" altLang="zh-CN" sz="2400" b="1" dirty="0">
                <a:solidFill>
                  <a:srgbClr val="0000FF"/>
                </a:solidFill>
                <a:latin typeface="Merriweather" pitchFamily="18" charset="0"/>
                <a:ea typeface="等线 Light" charset="0"/>
                <a:cs typeface="Aptos Display" charset="0"/>
              </a:rPr>
              <a:t>:</a:t>
            </a:r>
            <a:endParaRPr lang="en-US" altLang="zh-CN" sz="2400" b="1" i="0" u="none" strike="noStrike" kern="1200" cap="none" spc="0" baseline="0" dirty="0">
              <a:solidFill>
                <a:srgbClr val="0000FF"/>
              </a:solidFill>
              <a:latin typeface="Merriweather" pitchFamily="18" charset="0"/>
              <a:ea typeface="等线 Light" charset="0"/>
              <a:cs typeface="Aptos Display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i3 or above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4GB minimum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500GB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connection </a:t>
            </a:r>
          </a:p>
          <a:p>
            <a:pPr lvl="0"/>
            <a:r>
              <a:rPr lang="en-US" altLang="zh-CN" sz="2400" b="1" i="0" u="none" strike="noStrike" kern="1200" cap="none" spc="0" baseline="0" dirty="0">
                <a:solidFill>
                  <a:srgbClr val="0000FF"/>
                </a:solidFill>
                <a:latin typeface="Merriweather" pitchFamily="18" charset="0"/>
                <a:ea typeface="等线 Light" charset="0"/>
                <a:cs typeface="Aptos Display" charset="0"/>
              </a:rPr>
              <a:t> </a:t>
            </a:r>
          </a:p>
          <a:p>
            <a:pPr lvl="0"/>
            <a:endParaRPr lang="en-US" sz="2400" b="1" dirty="0">
              <a:solidFill>
                <a:srgbClr val="0000FF"/>
              </a:solidFill>
              <a:latin typeface="Merriweather" pitchFamily="18" charset="0"/>
              <a:ea typeface="等线 Light" charset="0"/>
              <a:cs typeface="Times New Roman" panose="02020603050405020304" pitchFamily="18" charset="0"/>
            </a:endParaRPr>
          </a:p>
          <a:p>
            <a:pPr lvl="0"/>
            <a:endParaRPr lang="en-US" sz="2400" b="1" dirty="0">
              <a:solidFill>
                <a:srgbClr val="0000FF"/>
              </a:solidFill>
              <a:latin typeface="Merriweather" pitchFamily="18" charset="0"/>
              <a:ea typeface="等线 Light" charset="0"/>
              <a:cs typeface="Times New Roman" panose="02020603050405020304" pitchFamily="18" charset="0"/>
            </a:endParaRPr>
          </a:p>
          <a:p>
            <a:pPr lvl="0"/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 eaLnBrk="1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1" i="0" u="none" strike="noStrike" kern="1200" cap="none" spc="0" baseline="0" dirty="0">
              <a:solidFill>
                <a:srgbClr val="0000FF"/>
              </a:solidFill>
              <a:latin typeface="Merriweather" pitchFamily="18" charset="0"/>
              <a:ea typeface="等线 Light" charset="0"/>
              <a:cs typeface="Aptos Display" charset="0"/>
            </a:endParaRPr>
          </a:p>
          <a:p>
            <a:pPr marL="0" indent="0" algn="l" eaLnBrk="1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1" i="0" u="none" strike="noStrike" kern="1200" cap="none" spc="0" baseline="0" dirty="0">
              <a:solidFill>
                <a:srgbClr val="0000FF"/>
              </a:solidFill>
              <a:latin typeface="Merriweather" pitchFamily="18" charset="0"/>
              <a:ea typeface="等线 Light" charset="0"/>
              <a:cs typeface="Aptos Display" charset="0"/>
            </a:endParaRPr>
          </a:p>
          <a:p>
            <a:pPr marL="0" indent="0" algn="l" eaLnBrk="1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 dirty="0">
                <a:solidFill>
                  <a:srgbClr val="0000FF"/>
                </a:solidFill>
                <a:latin typeface="Merriweather" pitchFamily="18" charset="0"/>
                <a:ea typeface="等线 Light" charset="0"/>
                <a:cs typeface="Aptos Display" charset="0"/>
              </a:rPr>
              <a:t>  </a:t>
            </a:r>
            <a:br>
              <a:rPr lang="zh-CN" altLang="en-US" sz="2400" b="1" i="0" u="none" strike="noStrike" kern="1200" cap="none" spc="0" baseline="0" dirty="0">
                <a:solidFill>
                  <a:schemeClr val="tx1"/>
                </a:solidFill>
                <a:latin typeface="Merriweather" pitchFamily="18" charset="0"/>
                <a:ea typeface="等线 Light" charset="0"/>
                <a:cs typeface="Aptos Display" charset="0"/>
              </a:rPr>
            </a:br>
            <a:endParaRPr lang="zh-CN" altLang="en-US" sz="2400" b="1" i="0" u="none" strike="noStrike" kern="1200" cap="none" spc="0" baseline="0" dirty="0">
              <a:solidFill>
                <a:schemeClr val="tx1"/>
              </a:solidFill>
              <a:latin typeface="Merriweather" pitchFamily="18" charset="0"/>
              <a:ea typeface="等线 Light" charset="0"/>
              <a:cs typeface="Aptos Display" charset="0"/>
            </a:endParaRPr>
          </a:p>
        </p:txBody>
      </p:sp>
      <p:sp>
        <p:nvSpPr>
          <p:cNvPr id="50" name="矩形"/>
          <p:cNvSpPr>
            <a:spLocks/>
          </p:cNvSpPr>
          <p:nvPr/>
        </p:nvSpPr>
        <p:spPr>
          <a:xfrm>
            <a:off x="892387" y="3159016"/>
            <a:ext cx="8742681" cy="13424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lvl="0"/>
            <a:endParaRPr lang="en-US" sz="2400" b="1" dirty="0">
              <a:solidFill>
                <a:srgbClr val="0000FF"/>
              </a:solidFill>
              <a:latin typeface="Merriweather" pitchFamily="18" charset="0"/>
              <a:ea typeface="等线 Light" charset="0"/>
              <a:cs typeface="Times New Roman" panose="02020603050405020304" pitchFamily="18" charset="0"/>
            </a:endParaRPr>
          </a:p>
          <a:p>
            <a:pPr lvl="0"/>
            <a:endParaRPr lang="en-US" sz="2400" b="1" dirty="0">
              <a:solidFill>
                <a:srgbClr val="0000FF"/>
              </a:solidFill>
              <a:latin typeface="Merriweather" pitchFamily="18" charset="0"/>
              <a:ea typeface="等线 Light" charset="0"/>
              <a:cs typeface="Times New Roman" panose="02020603050405020304" pitchFamily="18" charset="0"/>
            </a:endParaRPr>
          </a:p>
          <a:p>
            <a:endParaRPr lang="en-I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altLang="zh-CN" b="1" dirty="0">
              <a:solidFill>
                <a:srgbClr val="0000FF"/>
              </a:solidFill>
              <a:latin typeface="Times New Roman" panose="02020603050405020304" pitchFamily="18" charset="0"/>
              <a:ea typeface="等线 Light" charset="0"/>
              <a:cs typeface="Times New Roman" panose="02020603050405020304" pitchFamily="18" charset="0"/>
            </a:endParaRPr>
          </a:p>
          <a:p>
            <a:endParaRPr lang="en-IN" altLang="zh-CN" b="1" dirty="0">
              <a:solidFill>
                <a:srgbClr val="0000FF"/>
              </a:solidFill>
              <a:latin typeface="Times New Roman" panose="02020603050405020304" pitchFamily="18" charset="0"/>
              <a:ea typeface="等线 Light" charset="0"/>
              <a:cs typeface="Times New Roman" panose="02020603050405020304" pitchFamily="18" charset="0"/>
            </a:endParaRPr>
          </a:p>
          <a:p>
            <a:endParaRPr lang="en-IN" altLang="zh-CN" b="1" dirty="0">
              <a:solidFill>
                <a:srgbClr val="0000FF"/>
              </a:solidFill>
              <a:latin typeface="Times New Roman" panose="02020603050405020304" pitchFamily="18" charset="0"/>
              <a:ea typeface="等线 Light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solidFill>
                  <a:srgbClr val="0000FF"/>
                </a:solidFill>
                <a:latin typeface="Merriweather" pitchFamily="18" charset="0"/>
                <a:ea typeface="等线 Light" charset="0"/>
                <a:cs typeface="Aptos Display" charset="0"/>
              </a:rPr>
              <a:t>Software Specifications:</a:t>
            </a:r>
            <a:r>
              <a:rPr lang="en-US" altLang="zh-CN" sz="2800" b="1" dirty="0">
                <a:solidFill>
                  <a:srgbClr val="0000FF"/>
                </a:solidFill>
                <a:latin typeface="Merriweather" pitchFamily="18" charset="0"/>
                <a:ea typeface="等线 Light" charset="0"/>
                <a:cs typeface="Aptos Display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Windows/Linux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JavaScript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Python (Django)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SQLite / MySQL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Browser: Chrome / Edge </a:t>
            </a:r>
          </a:p>
          <a:p>
            <a:pPr marL="285750" indent="-285750" algn="l" eaLnBrk="1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CN" b="1" i="0" u="none" strike="noStrike" kern="1200" cap="none" spc="0" baseline="0" dirty="0">
              <a:solidFill>
                <a:srgbClr val="0000FF"/>
              </a:solidFill>
              <a:latin typeface="Merriweather" pitchFamily="18" charset="0"/>
              <a:ea typeface="等线 Light" charset="0"/>
              <a:cs typeface="Aptos Display" charset="0"/>
            </a:endParaRPr>
          </a:p>
          <a:p>
            <a:pPr marL="0" indent="0" algn="l" eaLnBrk="1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1" i="0" u="none" strike="noStrike" kern="1200" cap="none" spc="0" baseline="0" dirty="0">
              <a:solidFill>
                <a:srgbClr val="0000FF"/>
              </a:solidFill>
              <a:latin typeface="Merriweather" pitchFamily="18" charset="0"/>
              <a:ea typeface="等线 Light" charset="0"/>
              <a:cs typeface="Aptos Display" charset="0"/>
            </a:endParaRPr>
          </a:p>
          <a:p>
            <a:pPr marL="0" indent="0" algn="l" eaLnBrk="1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 dirty="0">
                <a:solidFill>
                  <a:srgbClr val="0000FF"/>
                </a:solidFill>
                <a:latin typeface="Merriweather" pitchFamily="18" charset="0"/>
                <a:ea typeface="等线 Light" charset="0"/>
                <a:cs typeface="Aptos Display" charset="0"/>
              </a:rPr>
              <a:t>  </a:t>
            </a:r>
            <a:br>
              <a:rPr lang="zh-CN" altLang="en-US" sz="2400" b="1" i="0" u="none" strike="noStrike" kern="1200" cap="none" spc="0" baseline="0" dirty="0">
                <a:solidFill>
                  <a:schemeClr val="tx1"/>
                </a:solidFill>
                <a:latin typeface="Merriweather" pitchFamily="18" charset="0"/>
                <a:ea typeface="等线 Light" charset="0"/>
                <a:cs typeface="Aptos Display" charset="0"/>
              </a:rPr>
            </a:br>
            <a:endParaRPr lang="zh-CN" altLang="en-US" sz="2400" b="1" i="0" u="none" strike="noStrike" kern="1200" cap="none" spc="0" baseline="0" dirty="0">
              <a:solidFill>
                <a:schemeClr val="tx1"/>
              </a:solidFill>
              <a:latin typeface="Merriweather" pitchFamily="18" charset="0"/>
              <a:ea typeface="等线 Light" charset="0"/>
              <a:cs typeface="Aptos Display" charset="0"/>
            </a:endParaRPr>
          </a:p>
        </p:txBody>
      </p:sp>
      <p:sp>
        <p:nvSpPr>
          <p:cNvPr id="51" name="矩形"/>
          <p:cNvSpPr>
            <a:spLocks/>
          </p:cNvSpPr>
          <p:nvPr/>
        </p:nvSpPr>
        <p:spPr>
          <a:xfrm>
            <a:off x="1424538" y="6133259"/>
            <a:ext cx="8864868" cy="52451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 eaLnBrk="1" latinLnBrk="0" hangingPunct="1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300" b="0" i="0" u="none" strike="noStrike" kern="1200" cap="none" spc="0" baseline="0">
                <a:solidFill>
                  <a:srgbClr val="0000FF"/>
                </a:solidFill>
                <a:latin typeface="Berlin Sans FB" pitchFamily="34" charset="0"/>
                <a:ea typeface="等线 Light" charset="0"/>
                <a:cs typeface="Aptos Display" charset="0"/>
              </a:rPr>
              <a:t> </a:t>
            </a:r>
            <a:r>
              <a:rPr lang="en-US" altLang="zh-CN" sz="2600" b="1" i="0" u="none" strike="noStrike" kern="1200" cap="none" spc="0" baseline="0">
                <a:solidFill>
                  <a:srgbClr val="FF0000"/>
                </a:solidFill>
                <a:latin typeface="Times New Roman" pitchFamily="18" charset="0"/>
                <a:ea typeface="等线 Light" charset="0"/>
                <a:cs typeface="Aptos Display" charset="0"/>
              </a:rPr>
              <a:t>Dept. of Computer Science &amp; Engineering</a:t>
            </a:r>
            <a:endParaRPr lang="zh-CN" altLang="en-US" sz="2600" b="1" i="0" u="none" strike="noStrike" kern="1200" cap="none" spc="0" baseline="0">
              <a:solidFill>
                <a:srgbClr val="FF0000"/>
              </a:solidFill>
              <a:latin typeface="Times New Roman" pitchFamily="18" charset="0"/>
              <a:ea typeface="等线 Light" charset="0"/>
              <a:cs typeface="Aptos Displa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14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圆角矩形"/>
          <p:cNvSpPr>
            <a:spLocks/>
          </p:cNvSpPr>
          <p:nvPr/>
        </p:nvSpPr>
        <p:spPr>
          <a:xfrm>
            <a:off x="304799" y="6041570"/>
            <a:ext cx="11636830" cy="707886"/>
          </a:xfrm>
          <a:prstGeom prst="roundRect">
            <a:avLst>
              <a:gd name="adj" fmla="val 16666"/>
            </a:avLst>
          </a:prstGeom>
          <a:solidFill>
            <a:srgbClr val="95DBF7">
              <a:alpha val="88000"/>
            </a:srgbClr>
          </a:solidFill>
          <a:ln w="19050" cap="flat" cmpd="sng">
            <a:solidFill>
              <a:srgbClr val="000000"/>
            </a:solidFill>
            <a:prstDash val="solid"/>
            <a:round/>
          </a:ln>
        </p:spPr>
      </p:sp>
      <p:pic>
        <p:nvPicPr>
          <p:cNvPr id="53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435"/>
            <a:ext cx="12192000" cy="95410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54" name="矩形"/>
          <p:cNvSpPr>
            <a:spLocks/>
          </p:cNvSpPr>
          <p:nvPr/>
        </p:nvSpPr>
        <p:spPr>
          <a:xfrm>
            <a:off x="1303867" y="1608667"/>
            <a:ext cx="8602134" cy="43412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endParaRPr lang="en-US" altLang="zh-CN" sz="2800" b="1" i="0" u="none" strike="noStrike" kern="1200" cap="none" spc="0" baseline="0" dirty="0">
              <a:solidFill>
                <a:srgbClr val="0000FF"/>
              </a:solidFill>
              <a:latin typeface="Merriweather" pitchFamily="18" charset="0"/>
              <a:ea typeface="等线 Light" charset="0"/>
              <a:cs typeface="Aptos Display" charset="0"/>
            </a:endParaRPr>
          </a:p>
          <a:p>
            <a:pPr>
              <a:lnSpc>
                <a:spcPct val="90000"/>
              </a:lnSpc>
            </a:pPr>
            <a:endParaRPr lang="en-US" altLang="zh-CN" sz="2800" b="1" dirty="0">
              <a:solidFill>
                <a:srgbClr val="0000FF"/>
              </a:solidFill>
              <a:latin typeface="Merriweather" pitchFamily="18" charset="0"/>
              <a:ea typeface="等线 Light" charset="0"/>
              <a:cs typeface="Aptos Display" charset="0"/>
            </a:endParaRPr>
          </a:p>
          <a:p>
            <a:pPr>
              <a:lnSpc>
                <a:spcPct val="90000"/>
              </a:lnSpc>
            </a:pPr>
            <a:endParaRPr lang="en-US" altLang="zh-CN" sz="2800" b="1" i="0" u="none" strike="noStrike" kern="1200" cap="none" spc="0" baseline="0" dirty="0">
              <a:solidFill>
                <a:srgbClr val="0000FF"/>
              </a:solidFill>
              <a:latin typeface="Merriweather" pitchFamily="18" charset="0"/>
              <a:ea typeface="等线 Light" charset="0"/>
              <a:cs typeface="Aptos Display" charset="0"/>
            </a:endParaRPr>
          </a:p>
          <a:p>
            <a:pPr>
              <a:lnSpc>
                <a:spcPct val="90000"/>
              </a:lnSpc>
            </a:pPr>
            <a:r>
              <a:rPr lang="en-US" altLang="zh-CN" sz="2800" b="1" i="0" u="none" strike="noStrike" kern="1200" cap="none" spc="0" baseline="0" dirty="0">
                <a:solidFill>
                  <a:srgbClr val="0000FF"/>
                </a:solidFill>
                <a:latin typeface="Merriweather" pitchFamily="18" charset="0"/>
                <a:ea typeface="等线 Light" charset="0"/>
                <a:cs typeface="Aptos Display" charset="0"/>
              </a:rPr>
              <a:t>Project Descriptions/ Modules:</a:t>
            </a:r>
          </a:p>
          <a:p>
            <a:pPr lvl="0"/>
            <a:r>
              <a:rPr lang="en-US" altLang="zh-CN" sz="2800" b="1" i="0" u="none" strike="noStrike" kern="1200" cap="none" spc="0" baseline="0" dirty="0">
                <a:solidFill>
                  <a:srgbClr val="0000FF"/>
                </a:solidFill>
                <a:latin typeface="Merriweather" pitchFamily="18" charset="0"/>
                <a:ea typeface="等线 Light" charset="0"/>
                <a:cs typeface="Aptos Display" charset="0"/>
              </a:rPr>
              <a:t> </a:t>
            </a: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Module:-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authentication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workers and customers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tasks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activities</a:t>
            </a:r>
          </a:p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Worker Module:-</a:t>
            </a:r>
            <a:endParaRPr lang="en-IN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assigned tasks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task progress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 time-off requests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availability status</a:t>
            </a:r>
          </a:p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Module:-</a:t>
            </a:r>
            <a:endParaRPr lang="en-IN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Register/login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service requests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request status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feedback </a:t>
            </a:r>
          </a:p>
          <a:p>
            <a:pPr lvl="0"/>
            <a:endParaRPr lang="en-US" altLang="zh-CN" b="1" i="0" u="none" strike="noStrike" kern="1200" cap="none" spc="0" baseline="0" dirty="0">
              <a:solidFill>
                <a:srgbClr val="0000FF"/>
              </a:solidFill>
              <a:latin typeface="Times New Roman" panose="02020603050405020304" pitchFamily="18" charset="0"/>
              <a:ea typeface="等线 Light" charset="0"/>
              <a:cs typeface="Times New Roman" panose="02020603050405020304" pitchFamily="18" charset="0"/>
            </a:endParaRPr>
          </a:p>
          <a:p>
            <a:pPr marL="0" indent="0" algn="l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800" b="1" i="0" u="none" strike="noStrike" kern="1200" cap="none" spc="0" baseline="0" dirty="0">
              <a:solidFill>
                <a:srgbClr val="0000FF"/>
              </a:solidFill>
              <a:latin typeface="Merriweather" pitchFamily="18" charset="0"/>
              <a:ea typeface="等线 Light" charset="0"/>
              <a:cs typeface="Aptos Display" charset="0"/>
            </a:endParaRPr>
          </a:p>
          <a:p>
            <a:pPr marL="0" indent="0" algn="l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800" b="1" i="0" u="none" strike="noStrike" kern="1200" cap="none" spc="0" baseline="0" dirty="0">
              <a:solidFill>
                <a:srgbClr val="0000FF"/>
              </a:solidFill>
              <a:latin typeface="Merriweather" pitchFamily="18" charset="0"/>
              <a:ea typeface="等线 Light" charset="0"/>
              <a:cs typeface="Aptos Display" charset="0"/>
            </a:endParaRPr>
          </a:p>
          <a:p>
            <a:pPr marL="0" indent="0" algn="l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 dirty="0">
                <a:solidFill>
                  <a:srgbClr val="0000FF"/>
                </a:solidFill>
                <a:latin typeface="Merriweather" pitchFamily="18" charset="0"/>
                <a:ea typeface="等线 Light" charset="0"/>
                <a:cs typeface="Aptos Display" charset="0"/>
              </a:rPr>
              <a:t> </a:t>
            </a:r>
            <a:br>
              <a:rPr lang="zh-CN" altLang="en-US" sz="2800" b="1" i="0" u="none" strike="noStrike" kern="1200" cap="none" spc="0" baseline="0" dirty="0">
                <a:solidFill>
                  <a:schemeClr val="tx1"/>
                </a:solidFill>
                <a:latin typeface="Merriweather" pitchFamily="18" charset="0"/>
                <a:ea typeface="等线 Light" charset="0"/>
                <a:cs typeface="Aptos Display" charset="0"/>
              </a:rPr>
            </a:br>
            <a:endParaRPr lang="zh-CN" altLang="en-US" sz="2800" b="1" i="0" u="none" strike="noStrike" kern="1200" cap="none" spc="0" baseline="0" dirty="0">
              <a:solidFill>
                <a:schemeClr val="tx1"/>
              </a:solidFill>
              <a:latin typeface="Merriweather" pitchFamily="18" charset="0"/>
              <a:ea typeface="等线 Light" charset="0"/>
              <a:cs typeface="Aptos Display" charset="0"/>
            </a:endParaRPr>
          </a:p>
        </p:txBody>
      </p:sp>
      <p:sp>
        <p:nvSpPr>
          <p:cNvPr id="64" name="矩形"/>
          <p:cNvSpPr>
            <a:spLocks/>
          </p:cNvSpPr>
          <p:nvPr/>
        </p:nvSpPr>
        <p:spPr>
          <a:xfrm>
            <a:off x="1530416" y="6133259"/>
            <a:ext cx="8864868" cy="52451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 eaLnBrk="1" fontAlgn="auto" latinLnBrk="0" hangingPunct="1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300" b="0" i="0" u="none" strike="noStrike" kern="1200" cap="none" spc="0" baseline="0">
                <a:solidFill>
                  <a:srgbClr val="0000FF"/>
                </a:solidFill>
                <a:latin typeface="Berlin Sans FB" pitchFamily="34" charset="0"/>
                <a:ea typeface="等线 Light" charset="0"/>
                <a:cs typeface="Aptos Display" charset="0"/>
              </a:rPr>
              <a:t> </a:t>
            </a:r>
            <a:r>
              <a:rPr lang="en-US" altLang="zh-CN" sz="2600" b="1" i="0" u="none" strike="noStrike" kern="1200" cap="none" spc="0" baseline="0">
                <a:solidFill>
                  <a:srgbClr val="FF0000"/>
                </a:solidFill>
                <a:latin typeface="Times New Roman" pitchFamily="18" charset="0"/>
                <a:ea typeface="等线 Light" charset="0"/>
                <a:cs typeface="Aptos Display" charset="0"/>
              </a:rPr>
              <a:t>Dept. of Computer Science &amp; Engineering</a:t>
            </a:r>
            <a:endParaRPr lang="zh-CN" altLang="en-US" sz="2600" b="1" i="0" u="none" strike="noStrike" kern="1200" cap="none" spc="0" baseline="0">
              <a:solidFill>
                <a:srgbClr val="FF0000"/>
              </a:solidFill>
              <a:latin typeface="Times New Roman" pitchFamily="18" charset="0"/>
              <a:ea typeface="等线 Light" charset="0"/>
              <a:cs typeface="Aptos Displa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434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圆角矩形"/>
          <p:cNvSpPr>
            <a:spLocks/>
          </p:cNvSpPr>
          <p:nvPr/>
        </p:nvSpPr>
        <p:spPr>
          <a:xfrm>
            <a:off x="304799" y="6041570"/>
            <a:ext cx="11636830" cy="707886"/>
          </a:xfrm>
          <a:prstGeom prst="roundRect">
            <a:avLst>
              <a:gd name="adj" fmla="val 16666"/>
            </a:avLst>
          </a:prstGeom>
          <a:solidFill>
            <a:srgbClr val="95DBF7">
              <a:alpha val="88000"/>
            </a:srgbClr>
          </a:solidFill>
          <a:ln w="19050" cap="flat" cmpd="sng">
            <a:solidFill>
              <a:srgbClr val="000000"/>
            </a:solidFill>
            <a:prstDash val="solid"/>
            <a:round/>
          </a:ln>
        </p:spPr>
      </p:sp>
      <p:pic>
        <p:nvPicPr>
          <p:cNvPr id="57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435"/>
            <a:ext cx="12192000" cy="95410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58" name="矩形"/>
          <p:cNvSpPr>
            <a:spLocks/>
          </p:cNvSpPr>
          <p:nvPr/>
        </p:nvSpPr>
        <p:spPr>
          <a:xfrm>
            <a:off x="3911600" y="1092989"/>
            <a:ext cx="4917439" cy="153167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 dirty="0">
                <a:solidFill>
                  <a:srgbClr val="0000FF"/>
                </a:solidFill>
                <a:latin typeface="Merriweather" pitchFamily="18" charset="0"/>
                <a:ea typeface="等线 Light" charset="0"/>
                <a:cs typeface="Aptos Display" charset="0"/>
              </a:rPr>
              <a:t>Results and Descriptions: </a:t>
            </a:r>
          </a:p>
          <a:p>
            <a:pPr marL="0" indent="0" algn="l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800" b="1" i="0" u="none" strike="noStrike" kern="1200" cap="none" spc="0" baseline="0" dirty="0">
              <a:solidFill>
                <a:srgbClr val="0000FF"/>
              </a:solidFill>
              <a:latin typeface="Merriweather" pitchFamily="18" charset="0"/>
              <a:ea typeface="等线 Light" charset="0"/>
              <a:cs typeface="Aptos Display" charset="0"/>
            </a:endParaRPr>
          </a:p>
          <a:p>
            <a:pPr marL="0" indent="0" algn="l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800" b="1" i="0" u="none" strike="noStrike" kern="1200" cap="none" spc="0" baseline="0" dirty="0">
              <a:solidFill>
                <a:srgbClr val="0000FF"/>
              </a:solidFill>
              <a:latin typeface="Merriweather" pitchFamily="18" charset="0"/>
              <a:ea typeface="等线 Light" charset="0"/>
              <a:cs typeface="Aptos Display" charset="0"/>
            </a:endParaRPr>
          </a:p>
          <a:p>
            <a:pPr marL="0" indent="0" algn="l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 dirty="0">
                <a:solidFill>
                  <a:srgbClr val="0000FF"/>
                </a:solidFill>
                <a:latin typeface="Merriweather" pitchFamily="18" charset="0"/>
                <a:ea typeface="等线 Light" charset="0"/>
                <a:cs typeface="Aptos Display" charset="0"/>
              </a:rPr>
              <a:t> </a:t>
            </a:r>
            <a:endParaRPr lang="zh-CN" altLang="en-US" sz="2800" b="1" i="0" u="none" strike="noStrike" kern="1200" cap="none" spc="0" baseline="0" dirty="0">
              <a:solidFill>
                <a:schemeClr val="tx1"/>
              </a:solidFill>
              <a:latin typeface="Merriweather" pitchFamily="18" charset="0"/>
              <a:ea typeface="等线 Light" charset="0"/>
              <a:cs typeface="Aptos Display" charset="0"/>
            </a:endParaRPr>
          </a:p>
        </p:txBody>
      </p:sp>
      <p:sp>
        <p:nvSpPr>
          <p:cNvPr id="59" name="矩形"/>
          <p:cNvSpPr>
            <a:spLocks/>
          </p:cNvSpPr>
          <p:nvPr/>
        </p:nvSpPr>
        <p:spPr>
          <a:xfrm>
            <a:off x="1530416" y="6133259"/>
            <a:ext cx="8864868" cy="52451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 eaLnBrk="1" latinLnBrk="0" hangingPunct="1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300" b="0" i="0" u="none" strike="noStrike" kern="1200" cap="none" spc="0" baseline="0">
                <a:solidFill>
                  <a:srgbClr val="0000FF"/>
                </a:solidFill>
                <a:latin typeface="Berlin Sans FB" pitchFamily="34" charset="0"/>
                <a:ea typeface="等线 Light" charset="0"/>
                <a:cs typeface="Aptos Display" charset="0"/>
              </a:rPr>
              <a:t> </a:t>
            </a:r>
            <a:r>
              <a:rPr lang="en-US" altLang="zh-CN" sz="2600" b="1" i="0" u="none" strike="noStrike" kern="1200" cap="none" spc="0" baseline="0">
                <a:solidFill>
                  <a:srgbClr val="FF0000"/>
                </a:solidFill>
                <a:latin typeface="Times New Roman" pitchFamily="18" charset="0"/>
                <a:ea typeface="等线 Light" charset="0"/>
                <a:cs typeface="Aptos Display" charset="0"/>
              </a:rPr>
              <a:t>Dept. of Computer Science &amp; Engineering</a:t>
            </a:r>
            <a:endParaRPr lang="zh-CN" altLang="en-US" sz="2600" b="1" i="0" u="none" strike="noStrike" kern="1200" cap="none" spc="0" baseline="0">
              <a:solidFill>
                <a:srgbClr val="FF0000"/>
              </a:solidFill>
              <a:latin typeface="Times New Roman" pitchFamily="18" charset="0"/>
              <a:ea typeface="等线 Light" charset="0"/>
              <a:cs typeface="Aptos Display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8A5293-B2F0-76D4-B1AD-FD170446A2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54" y="1662928"/>
            <a:ext cx="6329679" cy="42869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D0B555-6E04-78A7-B8D1-901C5FFDD7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5733" y="1697687"/>
            <a:ext cx="4792133" cy="4217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045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圆角矩形"/>
          <p:cNvSpPr>
            <a:spLocks/>
          </p:cNvSpPr>
          <p:nvPr/>
        </p:nvSpPr>
        <p:spPr>
          <a:xfrm>
            <a:off x="304799" y="6041570"/>
            <a:ext cx="11636830" cy="707886"/>
          </a:xfrm>
          <a:prstGeom prst="roundRect">
            <a:avLst>
              <a:gd name="adj" fmla="val 16666"/>
            </a:avLst>
          </a:prstGeom>
          <a:solidFill>
            <a:srgbClr val="95DBF7">
              <a:alpha val="88000"/>
            </a:srgbClr>
          </a:solidFill>
          <a:ln w="19050" cap="flat" cmpd="sng">
            <a:solidFill>
              <a:srgbClr val="000000"/>
            </a:solidFill>
            <a:prstDash val="solid"/>
            <a:round/>
          </a:ln>
        </p:spPr>
      </p:sp>
      <p:pic>
        <p:nvPicPr>
          <p:cNvPr id="61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435"/>
            <a:ext cx="12192000" cy="95410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62" name="矩形"/>
          <p:cNvSpPr>
            <a:spLocks/>
          </p:cNvSpPr>
          <p:nvPr/>
        </p:nvSpPr>
        <p:spPr>
          <a:xfrm>
            <a:off x="3611880" y="2549949"/>
            <a:ext cx="4648200" cy="19011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000" b="1" i="0" u="none" strike="noStrike" kern="1200" cap="none" spc="0" baseline="0">
                <a:solidFill>
                  <a:srgbClr val="FF33CC"/>
                </a:solidFill>
                <a:latin typeface="Times New Roman" pitchFamily="18" charset="0"/>
                <a:ea typeface="等线 Light" charset="0"/>
                <a:cs typeface="Times New Roman" pitchFamily="18" charset="0"/>
              </a:rPr>
              <a:t>Queries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000" b="1" i="0" u="none" strike="noStrike" kern="1200" cap="none" spc="0" baseline="0">
                <a:solidFill>
                  <a:srgbClr val="FF33CC"/>
                </a:solidFill>
                <a:latin typeface="Times New Roman" pitchFamily="18" charset="0"/>
                <a:ea typeface="等线 Light" charset="0"/>
                <a:cs typeface="Times New Roman" pitchFamily="18" charset="0"/>
              </a:rPr>
              <a:t>???</a:t>
            </a:r>
            <a:endParaRPr lang="zh-CN" altLang="en-US" sz="6000" b="1" i="0" u="none" strike="noStrike" kern="1200" cap="none" spc="0" baseline="0">
              <a:solidFill>
                <a:srgbClr val="FF33CC"/>
              </a:solidFill>
              <a:latin typeface="Times New Roman" pitchFamily="18" charset="0"/>
              <a:ea typeface="等线 Light" charset="0"/>
              <a:cs typeface="Times New Roman" pitchFamily="18" charset="0"/>
            </a:endParaRPr>
          </a:p>
        </p:txBody>
      </p:sp>
      <p:sp>
        <p:nvSpPr>
          <p:cNvPr id="63" name="矩形"/>
          <p:cNvSpPr>
            <a:spLocks/>
          </p:cNvSpPr>
          <p:nvPr/>
        </p:nvSpPr>
        <p:spPr>
          <a:xfrm>
            <a:off x="1690780" y="6133259"/>
            <a:ext cx="8864868" cy="52451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 eaLnBrk="1" latinLnBrk="0" hangingPunct="1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300" b="0" i="0" u="none" strike="noStrike" kern="1200" cap="none" spc="0" baseline="0">
                <a:solidFill>
                  <a:srgbClr val="0000FF"/>
                </a:solidFill>
                <a:latin typeface="Berlin Sans FB" pitchFamily="34" charset="0"/>
                <a:ea typeface="等线 Light" charset="0"/>
                <a:cs typeface="Aptos Display" charset="0"/>
              </a:rPr>
              <a:t> </a:t>
            </a:r>
            <a:r>
              <a:rPr lang="en-US" altLang="zh-CN" sz="2600" b="1" i="0" u="none" strike="noStrike" kern="1200" cap="none" spc="0" baseline="0">
                <a:solidFill>
                  <a:srgbClr val="FF0000"/>
                </a:solidFill>
                <a:latin typeface="Times New Roman" pitchFamily="18" charset="0"/>
                <a:ea typeface="等线 Light" charset="0"/>
                <a:cs typeface="Aptos Display" charset="0"/>
              </a:rPr>
              <a:t>Dept. of Computer Science &amp; Engineering</a:t>
            </a:r>
            <a:endParaRPr lang="zh-CN" altLang="en-US" sz="2600" b="1" i="0" u="none" strike="noStrike" kern="1200" cap="none" spc="0" baseline="0">
              <a:solidFill>
                <a:srgbClr val="FF0000"/>
              </a:solidFill>
              <a:latin typeface="Times New Roman" pitchFamily="18" charset="0"/>
              <a:ea typeface="等线 Light" charset="0"/>
              <a:cs typeface="Aptos Displa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636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98</TotalTime>
  <Words>700</Words>
  <Application>Microsoft Office PowerPoint</Application>
  <PresentationFormat>Widescreen</PresentationFormat>
  <Paragraphs>174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Aptos</vt:lpstr>
      <vt:lpstr>Aptos Display</vt:lpstr>
      <vt:lpstr>Arial</vt:lpstr>
      <vt:lpstr>Berlin Sans FB</vt:lpstr>
      <vt:lpstr>Droid Sans</vt:lpstr>
      <vt:lpstr>Merriweather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gadelohitareddy@gmail.com</cp:lastModifiedBy>
  <cp:revision>13</cp:revision>
  <dcterms:created xsi:type="dcterms:W3CDTF">2025-10-24T13:56:47Z</dcterms:created>
  <dcterms:modified xsi:type="dcterms:W3CDTF">2026-03-26T16:14:50Z</dcterms:modified>
</cp:coreProperties>
</file>